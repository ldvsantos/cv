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1" r:id="rId3"/>
    <p:sldId id="256" r:id="rId4"/>
    <p:sldId id="257" r:id="rId5"/>
    <p:sldId id="258" r:id="rId6"/>
    <p:sldId id="259" r:id="rId7"/>
    <p:sldId id="260" r:id="rId8"/>
    <p:sldId id="261" r:id="rId9"/>
    <p:sldId id="28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3" r:id="rId20"/>
    <p:sldId id="284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-1596" y="-2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2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1026-7DD8-4C46-9709-A7D707D29E08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ECC8E-30AA-45B7-A429-EBC38296F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0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2C47-D475-4D81-A3BD-179EDEC2CA38}" type="datetimeFigureOut">
              <a:rPr lang="pt-BR" smtClean="0"/>
              <a:t>10/10/2022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5850-402E-497C-8023-39AB09D0E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58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749" y="45212"/>
            <a:ext cx="8026501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203" y="1439900"/>
            <a:ext cx="4135120" cy="158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79712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40993"/>
              </p:ext>
            </p:extLst>
          </p:nvPr>
        </p:nvGraphicFramePr>
        <p:xfrm>
          <a:off x="460464" y="116632"/>
          <a:ext cx="7920880" cy="85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511"/>
                <a:gridCol w="6732369"/>
              </a:tblGrid>
              <a:tr h="858520">
                <a:tc>
                  <a:txBody>
                    <a:bodyPr/>
                    <a:lstStyle/>
                    <a:p>
                      <a:pPr marR="179705" algn="just"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UNIVERSIDADE FEDERAL DE SERGIPE – UFS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CENTRO DE CIÊNCIAS AGRÁRIAS APLICADAS - CCAA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DEPARTAMENTO DE ENGENHARIA AGRONÔMICA - DEA</a:t>
                      </a:r>
                      <a:endParaRPr lang="pt-BR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</a:tr>
            </a:tbl>
          </a:graphicData>
        </a:graphic>
      </p:graphicFrame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2400"/>
            <a:ext cx="936104" cy="78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079612" y="1340767"/>
            <a:ext cx="67352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</a:rPr>
              <a:t>Disciplina: Manejo e Conservação da água e do Solo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951054" y="1988840"/>
            <a:ext cx="6992042" cy="830997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Controle </a:t>
            </a:r>
            <a:r>
              <a:rPr lang="pt-BR" sz="2400" b="1" dirty="0" smtClean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 de  Erosão Hídrica –</a:t>
            </a:r>
          </a:p>
          <a:p>
            <a:pPr algn="ctr"/>
            <a:r>
              <a:rPr lang="pt-BR" sz="2400" b="1" dirty="0" smtClean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Cálculo de Canal Escoadouro – Terraços em Gradiente</a:t>
            </a:r>
            <a:endParaRPr lang="pt-BR" sz="2400" b="1" dirty="0">
              <a:ln>
                <a:solidFill>
                  <a:srgbClr val="FFFF00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9"/>
          <a:stretch/>
        </p:blipFill>
        <p:spPr bwMode="auto">
          <a:xfrm>
            <a:off x="1145146" y="2978482"/>
            <a:ext cx="6603858" cy="36953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630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cuperação de solos degradados pela agricultu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34048"/>
            <a:ext cx="2324100" cy="241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me_Old -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"/>
            <a:ext cx="7086600" cy="4173067"/>
          </a:xfrm>
          <a:prstGeom prst="rect">
            <a:avLst/>
          </a:prstGeom>
          <a:ln w="12700">
            <a:solidFill>
              <a:srgbClr val="FFFF00"/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anal Escoadouro Vegetado: conhecimentos básicos - YouTub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4521994"/>
            <a:ext cx="3924300" cy="220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2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5837" y="152400"/>
            <a:ext cx="635088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none" spc="-5" dirty="0"/>
              <a:t>CANAIS</a:t>
            </a:r>
            <a:r>
              <a:rPr sz="3600" u="none" spc="-55" dirty="0"/>
              <a:t> </a:t>
            </a:r>
            <a:r>
              <a:rPr sz="3600" u="none" spc="-15" dirty="0"/>
              <a:t>ESCOADOUROS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279654" y="5035803"/>
            <a:ext cx="4821301" cy="1414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36108" y="4725161"/>
            <a:ext cx="2852166" cy="20355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9654" y="852114"/>
            <a:ext cx="8559546" cy="36760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arlito"/>
              <a:cs typeface="Carlito"/>
            </a:endParaRPr>
          </a:p>
          <a:p>
            <a:pPr marL="355600" marR="30670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Definição: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O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canal escoadouro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é um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canal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de</a:t>
            </a:r>
            <a:r>
              <a:rPr sz="2400" b="1" spc="-1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dimensões 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apropriadas,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rasos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e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largos, </a:t>
            </a:r>
            <a:r>
              <a:rPr sz="2400" b="1" spc="-15" dirty="0">
                <a:solidFill>
                  <a:srgbClr val="FFFF00"/>
                </a:solidFill>
                <a:latin typeface="Carlito"/>
                <a:cs typeface="Carlito"/>
              </a:rPr>
              <a:t>geralmente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de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pequena 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declividade e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com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leito </a:t>
            </a:r>
            <a:r>
              <a:rPr sz="2400" b="1" spc="-15" dirty="0">
                <a:solidFill>
                  <a:srgbClr val="FFFF00"/>
                </a:solidFill>
                <a:latin typeface="Carlito"/>
                <a:cs typeface="Carlito"/>
              </a:rPr>
              <a:t>resistente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à</a:t>
            </a:r>
            <a:r>
              <a:rPr sz="2400" b="1" spc="-2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erosão</a:t>
            </a:r>
            <a:endParaRPr sz="2400" dirty="0">
              <a:latin typeface="Carlito"/>
              <a:cs typeface="Carlito"/>
            </a:endParaRPr>
          </a:p>
          <a:p>
            <a:pPr marL="355600" marR="234315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Finalidade: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Receber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água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dos </a:t>
            </a:r>
            <a:r>
              <a:rPr sz="2400" b="1" spc="-15" dirty="0">
                <a:solidFill>
                  <a:srgbClr val="FFFF00"/>
                </a:solidFill>
                <a:latin typeface="Carlito"/>
                <a:cs typeface="Carlito"/>
              </a:rPr>
              <a:t>terraços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com </a:t>
            </a:r>
            <a:r>
              <a:rPr sz="2400" b="1" spc="-15" dirty="0">
                <a:solidFill>
                  <a:srgbClr val="FFFF00"/>
                </a:solidFill>
                <a:latin typeface="Carlito"/>
                <a:cs typeface="Carlito"/>
              </a:rPr>
              <a:t>gradiente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e 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transportá-la </a:t>
            </a:r>
            <a:r>
              <a:rPr sz="2400" b="1" spc="-15" dirty="0">
                <a:solidFill>
                  <a:srgbClr val="FFFF00"/>
                </a:solidFill>
                <a:latin typeface="Carlito"/>
                <a:cs typeface="Carlito"/>
              </a:rPr>
              <a:t>para </a:t>
            </a:r>
            <a:r>
              <a:rPr sz="2400" b="1" spc="-25" dirty="0">
                <a:solidFill>
                  <a:srgbClr val="FFFF00"/>
                </a:solidFill>
                <a:latin typeface="Carlito"/>
                <a:cs typeface="Carlito"/>
              </a:rPr>
              <a:t>fora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da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área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sem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causar problemas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de 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erosão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nos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terrenos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por onde</a:t>
            </a:r>
            <a:r>
              <a:rPr sz="2400" b="1" spc="-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passa.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Tipos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de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canal escoadouro: </a:t>
            </a: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Escoadouro </a:t>
            </a:r>
            <a:r>
              <a:rPr sz="2000" b="1" spc="-15" dirty="0">
                <a:solidFill>
                  <a:srgbClr val="FFFF00"/>
                </a:solidFill>
                <a:latin typeface="Carlito"/>
                <a:cs typeface="Carlito"/>
              </a:rPr>
              <a:t>Natural</a:t>
            </a:r>
            <a:r>
              <a:rPr sz="2000" b="1" spc="-8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00"/>
                </a:solidFill>
                <a:latin typeface="Carlito"/>
                <a:cs typeface="Carlito"/>
              </a:rPr>
              <a:t>e</a:t>
            </a:r>
            <a:endParaRPr sz="2000" dirty="0">
              <a:latin typeface="Carlito"/>
              <a:cs typeface="Carlito"/>
            </a:endParaRPr>
          </a:p>
          <a:p>
            <a:pPr marL="3874770">
              <a:lnSpc>
                <a:spcPct val="100000"/>
              </a:lnSpc>
            </a:pP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Escoadouro</a:t>
            </a:r>
            <a:r>
              <a:rPr sz="2000" b="1" spc="-4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Artificial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683132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spc="-10" dirty="0"/>
              <a:t>Localização </a:t>
            </a:r>
            <a:r>
              <a:rPr u="sng" dirty="0"/>
              <a:t>do </a:t>
            </a:r>
            <a:r>
              <a:rPr u="sng" spc="-5" dirty="0"/>
              <a:t>Canal</a:t>
            </a:r>
            <a:r>
              <a:rPr u="sng" spc="-20" dirty="0"/>
              <a:t> </a:t>
            </a:r>
            <a:r>
              <a:rPr u="sng" spc="-15" dirty="0"/>
              <a:t>Escoadouro</a:t>
            </a:r>
          </a:p>
        </p:txBody>
      </p:sp>
      <p:sp>
        <p:nvSpPr>
          <p:cNvPr id="3" name="object 3"/>
          <p:cNvSpPr/>
          <p:nvPr/>
        </p:nvSpPr>
        <p:spPr>
          <a:xfrm>
            <a:off x="5038978" y="4203953"/>
            <a:ext cx="3494786" cy="1817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591" y="4005110"/>
            <a:ext cx="3816477" cy="2605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41519" y="1379600"/>
            <a:ext cx="3420872" cy="18722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573" y="1052702"/>
            <a:ext cx="3960495" cy="26489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5787" y="736168"/>
            <a:ext cx="7972425" cy="5106035"/>
            <a:chOff x="585787" y="736168"/>
            <a:chExt cx="7972425" cy="5106035"/>
          </a:xfrm>
        </p:grpSpPr>
        <p:sp>
          <p:nvSpPr>
            <p:cNvPr id="3" name="object 3"/>
            <p:cNvSpPr/>
            <p:nvPr/>
          </p:nvSpPr>
          <p:spPr>
            <a:xfrm>
              <a:off x="614362" y="764622"/>
              <a:ext cx="7886737" cy="50490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0075" y="750455"/>
              <a:ext cx="7943850" cy="5077460"/>
            </a:xfrm>
            <a:custGeom>
              <a:avLst/>
              <a:gdLst/>
              <a:ahLst/>
              <a:cxnLst/>
              <a:rect l="l" t="t" r="r" b="b"/>
              <a:pathLst>
                <a:path w="7943850" h="5077460">
                  <a:moveTo>
                    <a:pt x="0" y="5077460"/>
                  </a:moveTo>
                  <a:lnTo>
                    <a:pt x="7943850" y="5077460"/>
                  </a:lnTo>
                  <a:lnTo>
                    <a:pt x="7943850" y="0"/>
                  </a:lnTo>
                  <a:lnTo>
                    <a:pt x="0" y="0"/>
                  </a:lnTo>
                  <a:lnTo>
                    <a:pt x="0" y="507746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1" y="45212"/>
            <a:ext cx="83566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5240" marR="5080" indent="-251396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Características </a:t>
            </a:r>
            <a:r>
              <a:rPr spc="-5" dirty="0"/>
              <a:t>da </a:t>
            </a:r>
            <a:r>
              <a:rPr spc="-15" dirty="0"/>
              <a:t>vegetação </a:t>
            </a:r>
            <a:r>
              <a:rPr spc="-5" dirty="0"/>
              <a:t>de </a:t>
            </a:r>
            <a:r>
              <a:rPr spc="-15" dirty="0"/>
              <a:t>revestimento </a:t>
            </a:r>
            <a:r>
              <a:rPr spc="-5" dirty="0"/>
              <a:t>do </a:t>
            </a:r>
            <a:r>
              <a:rPr u="none" spc="-5" dirty="0"/>
              <a:t> </a:t>
            </a:r>
            <a:r>
              <a:rPr spc="-5" dirty="0"/>
              <a:t>Canal</a:t>
            </a:r>
            <a:r>
              <a:rPr spc="5" dirty="0"/>
              <a:t> </a:t>
            </a:r>
            <a:r>
              <a:rPr spc="-10" dirty="0"/>
              <a:t>Escoadouro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433855"/>
            <a:ext cx="7437120" cy="43853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- Ser de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fácil</a:t>
            </a:r>
            <a:r>
              <a:rPr sz="2200" b="1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estabelecimento;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- Ser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rustica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e de 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crescimento</a:t>
            </a:r>
            <a:r>
              <a:rPr sz="2200" b="1" spc="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rápido;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-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Dar 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cobertura completa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e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uniforme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ao solo;</a:t>
            </a:r>
            <a:r>
              <a:rPr sz="2200" b="1" spc="2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- Não ser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daninha,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nem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hospedeira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de </a:t>
            </a:r>
            <a:r>
              <a:rPr sz="2200" b="1" spc="-20" dirty="0">
                <a:solidFill>
                  <a:srgbClr val="FFFFFF"/>
                </a:solidFill>
                <a:latin typeface="Carlito"/>
                <a:cs typeface="Carlito"/>
              </a:rPr>
              <a:t>pragas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2200" b="1" spc="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doenças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har char="•"/>
            </a:pPr>
            <a:endParaRPr sz="255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15" dirty="0">
                <a:solidFill>
                  <a:srgbClr val="FFFF00"/>
                </a:solidFill>
                <a:latin typeface="Carlito"/>
                <a:cs typeface="Carlito"/>
              </a:rPr>
              <a:t>ESPECIES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Revestimento </a:t>
            </a:r>
            <a:r>
              <a:rPr sz="22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do</a:t>
            </a:r>
            <a:r>
              <a:rPr sz="2200" b="1" u="heavy" spc="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22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canal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ts val="251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Grama </a:t>
            </a:r>
            <a:r>
              <a:rPr sz="2200" b="1" spc="-20" dirty="0">
                <a:solidFill>
                  <a:srgbClr val="FFFFFF"/>
                </a:solidFill>
                <a:latin typeface="Carlito"/>
                <a:cs typeface="Carlito"/>
              </a:rPr>
              <a:t>batatais;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Capim quicuiu; </a:t>
            </a:r>
            <a:r>
              <a:rPr sz="2200" b="1" spc="-15" dirty="0">
                <a:solidFill>
                  <a:srgbClr val="FFFFFF"/>
                </a:solidFill>
                <a:latin typeface="Carlito"/>
                <a:cs typeface="Carlito"/>
              </a:rPr>
              <a:t>gengibre;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rodes;</a:t>
            </a:r>
            <a:r>
              <a:rPr sz="2200" b="1" spc="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centrosema;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ts val="2510"/>
              </a:lnSpc>
            </a:pP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kudzu comum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ou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kudzu</a:t>
            </a:r>
            <a:r>
              <a:rPr sz="2200" b="1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tropical;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Barreiras </a:t>
            </a:r>
            <a:r>
              <a:rPr sz="22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ou </a:t>
            </a:r>
            <a:r>
              <a:rPr sz="22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Dissipadores </a:t>
            </a:r>
            <a:r>
              <a:rPr sz="22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de</a:t>
            </a:r>
            <a:r>
              <a:rPr sz="2200" b="1" u="heavy" spc="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22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energia</a:t>
            </a:r>
            <a:endParaRPr sz="22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Cana-de-açucar; </a:t>
            </a:r>
            <a:r>
              <a:rPr sz="2200" b="1" spc="-5" dirty="0">
                <a:solidFill>
                  <a:srgbClr val="FFFFFF"/>
                </a:solidFill>
                <a:latin typeface="Carlito"/>
                <a:cs typeface="Carlito"/>
              </a:rPr>
              <a:t>capim-limão; </a:t>
            </a:r>
            <a:r>
              <a:rPr sz="2200" b="1" spc="-10" dirty="0">
                <a:solidFill>
                  <a:srgbClr val="FFFFFF"/>
                </a:solidFill>
                <a:latin typeface="Carlito"/>
                <a:cs typeface="Carlito"/>
              </a:rPr>
              <a:t>capim</a:t>
            </a:r>
            <a:r>
              <a:rPr sz="2200" b="1" spc="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Carlito"/>
                <a:cs typeface="Carlito"/>
              </a:rPr>
              <a:t>elefante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136" y="152400"/>
            <a:ext cx="7543927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5" dirty="0"/>
              <a:t>Cálculo </a:t>
            </a:r>
            <a:r>
              <a:rPr sz="4400" u="none" dirty="0"/>
              <a:t>do </a:t>
            </a:r>
            <a:r>
              <a:rPr sz="4400" u="none" spc="-5" dirty="0"/>
              <a:t>Canal</a:t>
            </a:r>
            <a:r>
              <a:rPr sz="4400" u="none" spc="-15" dirty="0"/>
              <a:t> </a:t>
            </a:r>
            <a:r>
              <a:rPr sz="4400" u="none" spc="-10" dirty="0"/>
              <a:t>Escoadouro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914400" y="914400"/>
            <a:ext cx="7391400" cy="5350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CaixaDeTexto 3"/>
          <p:cNvSpPr txBox="1"/>
          <p:nvPr/>
        </p:nvSpPr>
        <p:spPr>
          <a:xfrm>
            <a:off x="914400" y="6211669"/>
            <a:ext cx="73914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65125" indent="-273050">
              <a:buFont typeface="Arial" pitchFamily="34" charset="0"/>
              <a:buChar char="•"/>
            </a:pPr>
            <a:r>
              <a:rPr lang="pt-BR" sz="1600" b="1" dirty="0" smtClean="0">
                <a:solidFill>
                  <a:schemeClr val="bg1">
                    <a:lumMod val="50000"/>
                  </a:schemeClr>
                </a:solidFill>
                <a:latin typeface="Bahnschrift SemiBold" pitchFamily="34" charset="0"/>
              </a:rPr>
              <a:t>Revestimento do canal escoadouro: Gramíneas de densidade média com estande ótimo </a:t>
            </a:r>
            <a:endParaRPr lang="pt-BR" sz="1600" b="1" dirty="0">
              <a:solidFill>
                <a:schemeClr val="bg1">
                  <a:lumMod val="50000"/>
                </a:schemeClr>
              </a:solidFill>
              <a:latin typeface="Bahnschrift Semi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04800"/>
            <a:ext cx="338645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1° </a:t>
            </a:r>
            <a:r>
              <a:rPr sz="28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Passo</a:t>
            </a:r>
            <a:r>
              <a:rPr sz="2800" b="1" u="heavy" spc="-6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: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1083309"/>
            <a:ext cx="3914775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Calcular Espaçamento</a:t>
            </a:r>
            <a:r>
              <a:rPr sz="1800" b="1" u="heavy" spc="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8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Vertical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EV =( (D/X) + 2) x 0,305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(Bentley)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540" y="2969132"/>
            <a:ext cx="6772909" cy="23987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EV= ((10/3,5))x0,305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1,46m,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se D=(EV/EH) x 100,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então: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EH =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14,60m,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Logo: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200/14,60 = </a:t>
            </a:r>
            <a:r>
              <a:rPr sz="2000" b="1" dirty="0">
                <a:solidFill>
                  <a:srgbClr val="FFFF00"/>
                </a:solidFill>
                <a:latin typeface="Arial"/>
                <a:cs typeface="Arial"/>
              </a:rPr>
              <a:t>14</a:t>
            </a:r>
            <a:r>
              <a:rPr sz="2000" b="1" spc="-7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00"/>
                </a:solidFill>
                <a:latin typeface="Arial"/>
                <a:cs typeface="Arial"/>
              </a:rPr>
              <a:t>terraços</a:t>
            </a:r>
            <a:endParaRPr sz="2000" dirty="0">
              <a:solidFill>
                <a:srgbClr val="FFFF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6672"/>
            <a:ext cx="8208912" cy="5904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50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199085"/>
            <a:ext cx="403943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2° </a:t>
            </a:r>
            <a:r>
              <a:rPr sz="4000" spc="-20" dirty="0"/>
              <a:t>Passo</a:t>
            </a:r>
            <a:r>
              <a:rPr sz="4000" spc="-100" dirty="0"/>
              <a:t> </a:t>
            </a:r>
            <a:r>
              <a:rPr sz="4000" spc="-5" dirty="0"/>
              <a:t>: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827328" y="1006297"/>
            <a:ext cx="70091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Determinar o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volume (vazão)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 água escoado pelo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canal.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6275" y="2224532"/>
            <a:ext cx="1038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Qmax=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090" y="2062784"/>
            <a:ext cx="541910" cy="6908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7620">
              <a:lnSpc>
                <a:spcPct val="100000"/>
              </a:lnSpc>
              <a:spcBef>
                <a:spcPts val="615"/>
              </a:spcBef>
            </a:pPr>
            <a:r>
              <a:rPr sz="1750" spc="130" dirty="0">
                <a:solidFill>
                  <a:srgbClr val="FFFFFF"/>
                </a:solidFill>
                <a:latin typeface="Trebuchet MS"/>
                <a:cs typeface="Trebuchet MS"/>
              </a:rPr>
              <a:t>𝑪𝑰𝑨</a:t>
            </a:r>
            <a:endParaRPr sz="17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750" spc="340" dirty="0">
                <a:solidFill>
                  <a:srgbClr val="FFFFFF"/>
                </a:solidFill>
                <a:latin typeface="Trebuchet MS"/>
                <a:cs typeface="Trebuchet MS"/>
              </a:rPr>
              <a:t>𝟑𝟔𝟎</a:t>
            </a:r>
            <a:endParaRPr sz="1750" dirty="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9120" y="1976132"/>
            <a:ext cx="2042160" cy="1033780"/>
            <a:chOff x="3119120" y="1976132"/>
            <a:chExt cx="2042160" cy="1033780"/>
          </a:xfrm>
        </p:grpSpPr>
        <p:sp>
          <p:nvSpPr>
            <p:cNvPr id="7" name="object 7"/>
            <p:cNvSpPr/>
            <p:nvPr/>
          </p:nvSpPr>
          <p:spPr>
            <a:xfrm>
              <a:off x="4410456" y="2445257"/>
              <a:ext cx="401320" cy="20320"/>
            </a:xfrm>
            <a:custGeom>
              <a:avLst/>
              <a:gdLst/>
              <a:ahLst/>
              <a:cxnLst/>
              <a:rect l="l" t="t" r="r" b="b"/>
              <a:pathLst>
                <a:path w="401320" h="20319">
                  <a:moveTo>
                    <a:pt x="400812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400812" y="19812"/>
                  </a:lnTo>
                  <a:lnTo>
                    <a:pt x="400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1820" y="1988832"/>
              <a:ext cx="2016760" cy="1008380"/>
            </a:xfrm>
            <a:custGeom>
              <a:avLst/>
              <a:gdLst/>
              <a:ahLst/>
              <a:cxnLst/>
              <a:rect l="l" t="t" r="r" b="b"/>
              <a:pathLst>
                <a:path w="2016760" h="1008380">
                  <a:moveTo>
                    <a:pt x="0" y="1008113"/>
                  </a:moveTo>
                  <a:lnTo>
                    <a:pt x="2016252" y="1008113"/>
                  </a:lnTo>
                  <a:lnTo>
                    <a:pt x="2016252" y="0"/>
                  </a:lnTo>
                  <a:lnTo>
                    <a:pt x="0" y="0"/>
                  </a:lnTo>
                  <a:lnTo>
                    <a:pt x="0" y="1008113"/>
                  </a:lnTo>
                  <a:close/>
                </a:path>
              </a:pathLst>
            </a:custGeom>
            <a:ln w="254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2340" y="3103880"/>
            <a:ext cx="7799070" cy="3579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que: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 dirty="0">
              <a:latin typeface="Arial"/>
              <a:cs typeface="Arial"/>
            </a:endParaRPr>
          </a:p>
          <a:p>
            <a:pPr marL="501650" indent="-413384">
              <a:lnSpc>
                <a:spcPct val="100000"/>
              </a:lnSpc>
              <a:buFont typeface="Arial"/>
              <a:buChar char="•"/>
              <a:tabLst>
                <a:tab pos="501650" algn="l"/>
                <a:tab pos="502284" algn="l"/>
              </a:tabLst>
            </a:pPr>
            <a:r>
              <a:rPr sz="2000" b="1" spc="5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Vazão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do canal escoadouro , em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75" dirty="0">
                <a:solidFill>
                  <a:srgbClr val="FFFFFF"/>
                </a:solidFill>
                <a:latin typeface="Arial"/>
                <a:cs typeface="Arial"/>
              </a:rPr>
              <a:t>m³.</a:t>
            </a:r>
            <a:r>
              <a:rPr sz="2000" spc="75" dirty="0">
                <a:solidFill>
                  <a:srgbClr val="FFFFFF"/>
                </a:solidFill>
                <a:latin typeface="Trebuchet MS"/>
                <a:cs typeface="Trebuchet MS"/>
              </a:rPr>
              <a:t>𝒔</a:t>
            </a:r>
            <a:r>
              <a:rPr sz="2175" spc="11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r>
              <a:rPr sz="2000" b="1" spc="75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Arial"/>
              <a:buChar char="•"/>
            </a:pPr>
            <a:endParaRPr sz="2900" dirty="0">
              <a:latin typeface="Arial"/>
              <a:cs typeface="Arial"/>
            </a:endParaRPr>
          </a:p>
          <a:p>
            <a:pPr marL="501650" indent="-413384">
              <a:lnSpc>
                <a:spcPct val="100000"/>
              </a:lnSpc>
              <a:buFont typeface="Arial"/>
              <a:buChar char="•"/>
              <a:tabLst>
                <a:tab pos="501650" algn="l"/>
                <a:tab pos="502284" algn="l"/>
                <a:tab pos="2481580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 Coeficiente	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enxurrada;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"/>
              <a:buChar char="•"/>
            </a:pPr>
            <a:endParaRPr sz="2950" dirty="0">
              <a:latin typeface="Arial"/>
              <a:cs typeface="Arial"/>
            </a:endParaRPr>
          </a:p>
          <a:p>
            <a:pPr marL="501650" indent="-413384">
              <a:lnSpc>
                <a:spcPct val="100000"/>
              </a:lnSpc>
              <a:buFont typeface="Arial"/>
              <a:buChar char="•"/>
              <a:tabLst>
                <a:tab pos="501650" algn="l"/>
                <a:tab pos="502284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 = intensidade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de chuva </a:t>
            </a:r>
            <a:r>
              <a:rPr sz="2000" b="1" spc="29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000" spc="295" dirty="0">
                <a:solidFill>
                  <a:srgbClr val="FFFFFF"/>
                </a:solidFill>
                <a:latin typeface="Trebuchet MS"/>
                <a:cs typeface="Trebuchet MS"/>
              </a:rPr>
              <a:t>𝒎𝒎𝒉</a:t>
            </a:r>
            <a:r>
              <a:rPr sz="2175" spc="44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r>
              <a:rPr sz="2000" spc="295" dirty="0">
                <a:solidFill>
                  <a:srgbClr val="FFFFFF"/>
                </a:solidFill>
                <a:latin typeface="Trebuchet MS"/>
                <a:cs typeface="Trebuchet MS"/>
              </a:rPr>
              <a:t>);</a:t>
            </a:r>
            <a:r>
              <a:rPr sz="2000" spc="-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rebuchet MS"/>
                <a:cs typeface="Trebuchet MS"/>
              </a:rPr>
              <a:t>𝒆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FFFF"/>
              </a:buClr>
              <a:buFont typeface="Arial"/>
              <a:buChar char="•"/>
            </a:pPr>
            <a:endParaRPr sz="2850" dirty="0">
              <a:latin typeface="Trebuchet MS"/>
              <a:cs typeface="Trebuchet MS"/>
            </a:endParaRPr>
          </a:p>
          <a:p>
            <a:pPr marL="492759" indent="-403860">
              <a:lnSpc>
                <a:spcPct val="100000"/>
              </a:lnSpc>
              <a:buFont typeface="Arial"/>
              <a:buChar char="•"/>
              <a:tabLst>
                <a:tab pos="492125" algn="l"/>
                <a:tab pos="492759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b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Área</a:t>
            </a:r>
            <a:r>
              <a:rPr sz="2000" b="1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contribuição</a:t>
            </a:r>
            <a:r>
              <a:rPr sz="2000" b="1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enxurrada</a:t>
            </a:r>
            <a:r>
              <a:rPr sz="2000" b="1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2000" b="1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00" b="1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terraço</a:t>
            </a:r>
            <a:r>
              <a:rPr sz="2000" b="1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(área</a:t>
            </a:r>
            <a:endParaRPr sz="2000" dirty="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acima dele)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(m²).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304800"/>
            <a:ext cx="7696199" cy="6248400"/>
            <a:chOff x="1475613" y="692658"/>
            <a:chExt cx="6696709" cy="4752975"/>
          </a:xfrm>
        </p:grpSpPr>
        <p:sp>
          <p:nvSpPr>
            <p:cNvPr id="3" name="object 3"/>
            <p:cNvSpPr/>
            <p:nvPr/>
          </p:nvSpPr>
          <p:spPr>
            <a:xfrm>
              <a:off x="1475613" y="692658"/>
              <a:ext cx="6696709" cy="47524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44008" y="2085987"/>
              <a:ext cx="504190" cy="335280"/>
            </a:xfrm>
            <a:custGeom>
              <a:avLst/>
              <a:gdLst/>
              <a:ahLst/>
              <a:cxnLst/>
              <a:rect l="l" t="t" r="r" b="b"/>
              <a:pathLst>
                <a:path w="504189" h="335280">
                  <a:moveTo>
                    <a:pt x="0" y="334886"/>
                  </a:moveTo>
                  <a:lnTo>
                    <a:pt x="504050" y="334886"/>
                  </a:lnTo>
                  <a:lnTo>
                    <a:pt x="504050" y="0"/>
                  </a:lnTo>
                  <a:lnTo>
                    <a:pt x="0" y="0"/>
                  </a:lnTo>
                  <a:lnTo>
                    <a:pt x="0" y="33488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3880" y="404647"/>
            <a:ext cx="6406515" cy="5983605"/>
            <a:chOff x="1333880" y="404647"/>
            <a:chExt cx="6406515" cy="5983605"/>
          </a:xfrm>
        </p:grpSpPr>
        <p:sp>
          <p:nvSpPr>
            <p:cNvPr id="3" name="object 3"/>
            <p:cNvSpPr/>
            <p:nvPr/>
          </p:nvSpPr>
          <p:spPr>
            <a:xfrm>
              <a:off x="1333880" y="404647"/>
              <a:ext cx="6406515" cy="598347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9766" y="2852927"/>
              <a:ext cx="3528695" cy="216535"/>
            </a:xfrm>
            <a:custGeom>
              <a:avLst/>
              <a:gdLst/>
              <a:ahLst/>
              <a:cxnLst/>
              <a:rect l="l" t="t" r="r" b="b"/>
              <a:pathLst>
                <a:path w="3528695" h="216535">
                  <a:moveTo>
                    <a:pt x="0" y="216026"/>
                  </a:moveTo>
                  <a:lnTo>
                    <a:pt x="3528440" y="216026"/>
                  </a:lnTo>
                  <a:lnTo>
                    <a:pt x="3528440" y="0"/>
                  </a:lnTo>
                  <a:lnTo>
                    <a:pt x="0" y="0"/>
                  </a:lnTo>
                  <a:lnTo>
                    <a:pt x="0" y="21602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0" y="457200"/>
            <a:ext cx="7848600" cy="5867399"/>
            <a:chOff x="1547749" y="908685"/>
            <a:chExt cx="5976620" cy="4104640"/>
          </a:xfrm>
        </p:grpSpPr>
        <p:sp>
          <p:nvSpPr>
            <p:cNvPr id="3" name="object 3"/>
            <p:cNvSpPr/>
            <p:nvPr/>
          </p:nvSpPr>
          <p:spPr>
            <a:xfrm>
              <a:off x="1547749" y="908685"/>
              <a:ext cx="5976620" cy="41045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23919" y="3068967"/>
              <a:ext cx="360045" cy="262890"/>
            </a:xfrm>
            <a:custGeom>
              <a:avLst/>
              <a:gdLst/>
              <a:ahLst/>
              <a:cxnLst/>
              <a:rect l="l" t="t" r="r" b="b"/>
              <a:pathLst>
                <a:path w="360045" h="262889">
                  <a:moveTo>
                    <a:pt x="0" y="262877"/>
                  </a:moveTo>
                  <a:lnTo>
                    <a:pt x="360045" y="262877"/>
                  </a:lnTo>
                  <a:lnTo>
                    <a:pt x="360045" y="0"/>
                  </a:lnTo>
                  <a:lnTo>
                    <a:pt x="0" y="0"/>
                  </a:lnTo>
                  <a:lnTo>
                    <a:pt x="0" y="262877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25144"/>
            <a:ext cx="6697649" cy="3086101"/>
          </a:xfrm>
          <a:prstGeom prst="rect">
            <a:avLst/>
          </a:prstGeom>
          <a:solidFill>
            <a:srgbClr val="1F487C"/>
          </a:solidFill>
          <a:ln w="9525">
            <a:solidFill>
              <a:srgbClr val="FF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ÁREA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DO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TERRAÇO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1 = 500 X 14,60 = 7.300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m²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000" spc="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0,73ha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VAZÃO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DO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TERRAÇO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r>
              <a:rPr sz="20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Q1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CIA/360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Q1 = (0,58 x 190 x</a:t>
            </a:r>
            <a:r>
              <a:rPr sz="2000" spc="3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0,73)/360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Q1 </a:t>
            </a:r>
            <a:r>
              <a:rPr sz="2000" b="1" dirty="0">
                <a:solidFill>
                  <a:srgbClr val="FFFF00"/>
                </a:solidFill>
                <a:latin typeface="Carlito"/>
                <a:cs typeface="Carlito"/>
              </a:rPr>
              <a:t>= 0,22</a:t>
            </a:r>
            <a:r>
              <a:rPr sz="2000" b="1" spc="-3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b="1" spc="70" dirty="0">
                <a:solidFill>
                  <a:srgbClr val="FFFF00"/>
                </a:solidFill>
                <a:latin typeface="Arial"/>
                <a:cs typeface="Arial"/>
              </a:rPr>
              <a:t>m³.</a:t>
            </a:r>
            <a:r>
              <a:rPr sz="2000" spc="70" dirty="0">
                <a:solidFill>
                  <a:srgbClr val="FFFF00"/>
                </a:solidFill>
                <a:latin typeface="Trebuchet MS"/>
                <a:cs typeface="Trebuchet MS"/>
              </a:rPr>
              <a:t>𝒔</a:t>
            </a:r>
            <a:r>
              <a:rPr sz="2175" spc="104" baseline="28735" dirty="0">
                <a:solidFill>
                  <a:srgbClr val="FFFF00"/>
                </a:solidFill>
                <a:latin typeface="Trebuchet MS"/>
                <a:cs typeface="Trebuchet MS"/>
              </a:rPr>
              <a:t>−𝟏</a:t>
            </a:r>
            <a:endParaRPr sz="2175" baseline="28735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3382" y="139446"/>
            <a:ext cx="639241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CALCULO </a:t>
            </a:r>
            <a:r>
              <a:rPr sz="1800" b="1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PARA </a:t>
            </a:r>
            <a:r>
              <a:rPr sz="1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CADA </a:t>
            </a:r>
            <a:r>
              <a:rPr sz="18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TERRAÇO</a:t>
            </a:r>
            <a:r>
              <a:rPr sz="1800" b="1" u="heavy" spc="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INDIVIDUALMENTE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546" y="3733800"/>
            <a:ext cx="8251825" cy="2883535"/>
          </a:xfrm>
          <a:prstGeom prst="rect">
            <a:avLst/>
          </a:prstGeom>
          <a:solidFill>
            <a:srgbClr val="1F487C"/>
          </a:solidFill>
          <a:ln w="9525">
            <a:solidFill>
              <a:srgbClr val="FFFF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1440" marR="165100">
              <a:lnSpc>
                <a:spcPct val="100000"/>
              </a:lnSpc>
              <a:spcBef>
                <a:spcPts val="235"/>
              </a:spcBef>
            </a:pP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Considerando todos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os </a:t>
            </a: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terraços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com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mesmo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comprimento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e </a:t>
            </a: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largura,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então: 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A1=A2=A3=A4=A5=A6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</a:pPr>
            <a:r>
              <a:rPr sz="2000" b="1" spc="-250" dirty="0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sz="2000" b="1" spc="-195" dirty="0">
                <a:solidFill>
                  <a:srgbClr val="FFFFFF"/>
                </a:solidFill>
                <a:latin typeface="Arial"/>
                <a:cs typeface="Arial"/>
              </a:rPr>
              <a:t>“C” 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“I”, 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permanecem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constante,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então: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Q2=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Q1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+ Q1,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logo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Q2=2Q1 = 2 x 0,22 = 0,44 </a:t>
            </a:r>
            <a:r>
              <a:rPr sz="2000" b="1" spc="75" dirty="0">
                <a:solidFill>
                  <a:srgbClr val="FFFFFF"/>
                </a:solidFill>
                <a:latin typeface="Arial"/>
                <a:cs typeface="Arial"/>
              </a:rPr>
              <a:t>m³.</a:t>
            </a:r>
            <a:r>
              <a:rPr sz="2000" spc="75" dirty="0">
                <a:solidFill>
                  <a:srgbClr val="FFFFFF"/>
                </a:solidFill>
                <a:latin typeface="Trebuchet MS"/>
                <a:cs typeface="Trebuchet MS"/>
              </a:rPr>
              <a:t>𝒔</a:t>
            </a:r>
            <a:r>
              <a:rPr sz="2175" spc="11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r>
              <a:rPr sz="2000" b="1" spc="75" dirty="0">
                <a:solidFill>
                  <a:srgbClr val="FFFFFF"/>
                </a:solidFill>
                <a:latin typeface="Carlito"/>
                <a:cs typeface="Carlito"/>
              </a:rPr>
              <a:t>,</a:t>
            </a:r>
            <a:r>
              <a:rPr sz="2000" b="1" spc="3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então</a:t>
            </a:r>
            <a:endParaRPr sz="2000" dirty="0">
              <a:latin typeface="Carlito"/>
              <a:cs typeface="Carlito"/>
            </a:endParaRPr>
          </a:p>
          <a:p>
            <a:pPr marL="91440">
              <a:lnSpc>
                <a:spcPct val="100000"/>
              </a:lnSpc>
              <a:spcBef>
                <a:spcPts val="60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Q3 = 3 Q1 = 0,66</a:t>
            </a:r>
            <a:r>
              <a:rPr sz="2000" b="1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75" dirty="0">
                <a:solidFill>
                  <a:srgbClr val="FFFFFF"/>
                </a:solidFill>
                <a:latin typeface="Arial"/>
                <a:cs typeface="Arial"/>
              </a:rPr>
              <a:t>m³.</a:t>
            </a:r>
            <a:r>
              <a:rPr sz="2000" spc="75" dirty="0">
                <a:solidFill>
                  <a:srgbClr val="FFFFFF"/>
                </a:solidFill>
                <a:latin typeface="Trebuchet MS"/>
                <a:cs typeface="Trebuchet MS"/>
              </a:rPr>
              <a:t>𝒔</a:t>
            </a:r>
            <a:r>
              <a:rPr sz="2175" spc="11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endParaRPr sz="2175" baseline="28735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 dirty="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Então: </a:t>
            </a:r>
            <a:r>
              <a:rPr sz="2000" b="1" dirty="0">
                <a:solidFill>
                  <a:srgbClr val="FFFF00"/>
                </a:solidFill>
                <a:latin typeface="Carlito"/>
                <a:cs typeface="Carlito"/>
              </a:rPr>
              <a:t>14 </a:t>
            </a: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Q1 </a:t>
            </a:r>
            <a:r>
              <a:rPr sz="2000" b="1" dirty="0">
                <a:solidFill>
                  <a:srgbClr val="FFFF00"/>
                </a:solidFill>
                <a:latin typeface="Carlito"/>
                <a:cs typeface="Carlito"/>
              </a:rPr>
              <a:t>= 3,08</a:t>
            </a:r>
            <a:r>
              <a:rPr sz="2000" b="1" spc="-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b="1" spc="75" dirty="0">
                <a:solidFill>
                  <a:srgbClr val="FFFF00"/>
                </a:solidFill>
                <a:latin typeface="Arial"/>
                <a:cs typeface="Arial"/>
              </a:rPr>
              <a:t>m³.</a:t>
            </a:r>
            <a:r>
              <a:rPr sz="2000" spc="75" dirty="0">
                <a:solidFill>
                  <a:srgbClr val="FFFF00"/>
                </a:solidFill>
                <a:latin typeface="Trebuchet MS"/>
                <a:cs typeface="Trebuchet MS"/>
              </a:rPr>
              <a:t>𝒔</a:t>
            </a:r>
            <a:r>
              <a:rPr sz="2175" spc="112" baseline="28735" dirty="0">
                <a:solidFill>
                  <a:srgbClr val="FFFF00"/>
                </a:solidFill>
                <a:latin typeface="Trebuchet MS"/>
                <a:cs typeface="Trebuchet MS"/>
              </a:rPr>
              <a:t>−𝟏</a:t>
            </a:r>
            <a:endParaRPr sz="2175" baseline="28735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271398"/>
            <a:ext cx="3420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3° </a:t>
            </a:r>
            <a:r>
              <a:rPr sz="4000" spc="-20" dirty="0"/>
              <a:t>Passo</a:t>
            </a:r>
            <a:r>
              <a:rPr sz="4000" spc="-100" dirty="0"/>
              <a:t> </a:t>
            </a:r>
            <a:r>
              <a:rPr sz="4000" spc="-5" dirty="0"/>
              <a:t>: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03275" y="1452880"/>
            <a:ext cx="310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Calcular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seção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do</a:t>
            </a:r>
            <a:r>
              <a:rPr sz="1800" b="1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canal.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9990" y="1628787"/>
            <a:ext cx="1800225" cy="1152525"/>
          </a:xfrm>
          <a:prstGeom prst="rect">
            <a:avLst/>
          </a:prstGeom>
          <a:solidFill>
            <a:srgbClr val="1F487C"/>
          </a:solidFill>
          <a:ln w="25400">
            <a:solidFill>
              <a:srgbClr val="FFFF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300">
              <a:latin typeface="Times New Roman"/>
              <a:cs typeface="Times New Roman"/>
            </a:endParaRPr>
          </a:p>
          <a:p>
            <a:pPr marL="29146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Q = S x</a:t>
            </a:r>
            <a:r>
              <a:rPr sz="2400" b="1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V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119" y="2528442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Em que</a:t>
            </a:r>
            <a:r>
              <a:rPr sz="1800" b="1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503" y="3197428"/>
            <a:ext cx="6179820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Q = </a:t>
            </a:r>
            <a:r>
              <a:rPr sz="1800" b="1" spc="-25" dirty="0">
                <a:solidFill>
                  <a:srgbClr val="FFFFFF"/>
                </a:solidFill>
                <a:latin typeface="Carlito"/>
                <a:cs typeface="Carlito"/>
              </a:rPr>
              <a:t>Vazão,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volume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de água a ser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escoado</a:t>
            </a:r>
            <a:r>
              <a:rPr sz="1800" b="1" spc="-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b="1" spc="60" dirty="0">
                <a:solidFill>
                  <a:srgbClr val="FFFFFF"/>
                </a:solidFill>
                <a:latin typeface="Carlito"/>
                <a:cs typeface="Carlito"/>
              </a:rPr>
              <a:t>(m³</a:t>
            </a:r>
            <a:r>
              <a:rPr sz="1800" spc="60" dirty="0">
                <a:solidFill>
                  <a:srgbClr val="FFFFFF"/>
                </a:solidFill>
                <a:latin typeface="Trebuchet MS"/>
                <a:cs typeface="Trebuchet MS"/>
              </a:rPr>
              <a:t>𝒔</a:t>
            </a:r>
            <a:r>
              <a:rPr sz="1950" spc="89" baseline="27777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r>
              <a:rPr sz="1800" b="1" spc="60" dirty="0">
                <a:solidFill>
                  <a:srgbClr val="FFFFFF"/>
                </a:solidFill>
                <a:latin typeface="Carlito"/>
                <a:cs typeface="Carlito"/>
              </a:rPr>
              <a:t>);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 marL="520700" indent="-457200">
              <a:lnSpc>
                <a:spcPct val="100000"/>
              </a:lnSpc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V = </a:t>
            </a:r>
            <a:r>
              <a:rPr sz="1800" b="1" spc="-15" dirty="0">
                <a:solidFill>
                  <a:srgbClr val="FFFFFF"/>
                </a:solidFill>
                <a:latin typeface="Carlito"/>
                <a:cs typeface="Carlito"/>
              </a:rPr>
              <a:t>Velocidade </a:t>
            </a:r>
            <a:r>
              <a:rPr sz="1800" b="1" spc="-10" dirty="0">
                <a:solidFill>
                  <a:srgbClr val="FFFFFF"/>
                </a:solidFill>
                <a:latin typeface="Carlito"/>
                <a:cs typeface="Carlito"/>
              </a:rPr>
              <a:t>máxima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permitida </a:t>
            </a:r>
            <a:r>
              <a:rPr sz="1800" b="1" spc="-10" dirty="0">
                <a:solidFill>
                  <a:srgbClr val="FFFFFF"/>
                </a:solidFill>
                <a:latin typeface="Carlito"/>
                <a:cs typeface="Carlito"/>
              </a:rPr>
              <a:t>dentro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do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canal</a:t>
            </a:r>
            <a:r>
              <a:rPr sz="1800" b="1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b="1" spc="55" dirty="0">
                <a:solidFill>
                  <a:srgbClr val="FFFFFF"/>
                </a:solidFill>
                <a:latin typeface="Carlito"/>
                <a:cs typeface="Carlito"/>
              </a:rPr>
              <a:t>(m³</a:t>
            </a:r>
            <a:r>
              <a:rPr sz="1800" spc="55" dirty="0">
                <a:solidFill>
                  <a:srgbClr val="FFFFFF"/>
                </a:solidFill>
                <a:latin typeface="Trebuchet MS"/>
                <a:cs typeface="Trebuchet MS"/>
              </a:rPr>
              <a:t>𝒔</a:t>
            </a:r>
            <a:r>
              <a:rPr sz="1950" spc="82" baseline="27777" dirty="0">
                <a:solidFill>
                  <a:srgbClr val="FFFFFF"/>
                </a:solidFill>
                <a:latin typeface="Trebuchet MS"/>
                <a:cs typeface="Trebuchet MS"/>
              </a:rPr>
              <a:t>−𝟏</a:t>
            </a:r>
            <a:r>
              <a:rPr sz="1800" b="1" spc="55" dirty="0">
                <a:solidFill>
                  <a:srgbClr val="FFFFFF"/>
                </a:solidFill>
                <a:latin typeface="Carlito"/>
                <a:cs typeface="Carlito"/>
              </a:rPr>
              <a:t>);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Arial"/>
              <a:buChar char="•"/>
            </a:pPr>
            <a:endParaRPr sz="2450">
              <a:latin typeface="Carlito"/>
              <a:cs typeface="Carlito"/>
            </a:endParaRPr>
          </a:p>
          <a:p>
            <a:pPr marL="520700" indent="-457200">
              <a:lnSpc>
                <a:spcPct val="100000"/>
              </a:lnSpc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S = </a:t>
            </a:r>
            <a:r>
              <a:rPr sz="1800" b="1" spc="-10" dirty="0">
                <a:solidFill>
                  <a:srgbClr val="FFFFFF"/>
                </a:solidFill>
                <a:latin typeface="Carlito"/>
                <a:cs typeface="Carlito"/>
              </a:rPr>
              <a:t>Área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da </a:t>
            </a:r>
            <a:r>
              <a:rPr sz="1800" b="1" spc="-5" dirty="0">
                <a:solidFill>
                  <a:srgbClr val="FFFFFF"/>
                </a:solidFill>
                <a:latin typeface="Carlito"/>
                <a:cs typeface="Carlito"/>
              </a:rPr>
              <a:t>seção(m²)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9546" y="838200"/>
            <a:ext cx="8299654" cy="5410200"/>
            <a:chOff x="539546" y="1270342"/>
            <a:chExt cx="8081645" cy="4463415"/>
          </a:xfrm>
        </p:grpSpPr>
        <p:sp>
          <p:nvSpPr>
            <p:cNvPr id="3" name="object 3"/>
            <p:cNvSpPr/>
            <p:nvPr/>
          </p:nvSpPr>
          <p:spPr>
            <a:xfrm>
              <a:off x="539546" y="1270342"/>
              <a:ext cx="8081264" cy="44629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7936" y="4509134"/>
              <a:ext cx="576580" cy="360045"/>
            </a:xfrm>
            <a:custGeom>
              <a:avLst/>
              <a:gdLst/>
              <a:ahLst/>
              <a:cxnLst/>
              <a:rect l="l" t="t" r="r" b="b"/>
              <a:pathLst>
                <a:path w="576579" h="360045">
                  <a:moveTo>
                    <a:pt x="0" y="360044"/>
                  </a:moveTo>
                  <a:lnTo>
                    <a:pt x="576059" y="360044"/>
                  </a:lnTo>
                  <a:lnTo>
                    <a:pt x="576059" y="0"/>
                  </a:lnTo>
                  <a:lnTo>
                    <a:pt x="0" y="0"/>
                  </a:lnTo>
                  <a:lnTo>
                    <a:pt x="0" y="360044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0727" y="349122"/>
            <a:ext cx="1235888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Então,</a:t>
            </a:r>
            <a:r>
              <a:rPr sz="2000" b="1" spc="3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se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0855" y="349122"/>
            <a:ext cx="12519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Q = S x</a:t>
            </a:r>
            <a:r>
              <a:rPr sz="2000" b="1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80" dirty="0">
                <a:solidFill>
                  <a:srgbClr val="FFFFFF"/>
                </a:solidFill>
                <a:latin typeface="Carlito"/>
                <a:cs typeface="Carlito"/>
              </a:rPr>
              <a:t>V,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1594" y="349122"/>
            <a:ext cx="1164246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lo</a:t>
            </a:r>
            <a:r>
              <a:rPr sz="2000" b="1" spc="-30" dirty="0">
                <a:solidFill>
                  <a:srgbClr val="FFFFFF"/>
                </a:solidFill>
                <a:latin typeface="Carlito"/>
                <a:cs typeface="Carlito"/>
              </a:rPr>
              <a:t>g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401" y="1084680"/>
            <a:ext cx="866584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Conhecendo-se Q1, Q2, Q3, Q4, Q5 e Q6, e sendo </a:t>
            </a:r>
            <a:r>
              <a:rPr sz="2000" b="1" spc="-5" dirty="0">
                <a:solidFill>
                  <a:srgbClr val="FFFF00"/>
                </a:solidFill>
                <a:latin typeface="Carlito"/>
                <a:cs typeface="Carlito"/>
              </a:rPr>
              <a:t>V=1,35</a:t>
            </a:r>
            <a:r>
              <a:rPr sz="2000" b="1" spc="-16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b="1" spc="90" dirty="0" smtClean="0">
                <a:solidFill>
                  <a:srgbClr val="FFFF00"/>
                </a:solidFill>
                <a:latin typeface="Carlito"/>
                <a:cs typeface="Carlito"/>
              </a:rPr>
              <a:t>m</a:t>
            </a:r>
            <a:r>
              <a:rPr lang="pt-BR" sz="2000" b="1" spc="90" dirty="0" smtClean="0">
                <a:solidFill>
                  <a:srgbClr val="FFFF00"/>
                </a:solidFill>
                <a:latin typeface="Carlito"/>
                <a:cs typeface="Carlito"/>
              </a:rPr>
              <a:t>.</a:t>
            </a:r>
            <a:r>
              <a:rPr sz="2000" spc="90" dirty="0" smtClean="0">
                <a:solidFill>
                  <a:srgbClr val="FFFF00"/>
                </a:solidFill>
                <a:latin typeface="Trebuchet MS"/>
                <a:cs typeface="Trebuchet MS"/>
              </a:rPr>
              <a:t>𝒔</a:t>
            </a:r>
            <a:r>
              <a:rPr sz="2175" spc="135" baseline="28735" dirty="0">
                <a:solidFill>
                  <a:srgbClr val="FFFF00"/>
                </a:solidFill>
                <a:latin typeface="Trebuchet MS"/>
                <a:cs typeface="Trebuchet MS"/>
              </a:rPr>
              <a:t>−𝟏</a:t>
            </a:r>
            <a:endParaRPr sz="2175" baseline="28735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251" y="1726522"/>
            <a:ext cx="3698823" cy="641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10540" algn="l"/>
              </a:tabLst>
            </a:pP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S1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0,22</a:t>
            </a:r>
            <a:r>
              <a:rPr lang="pt-BR" sz="2000" b="1" dirty="0" smtClean="0">
                <a:solidFill>
                  <a:srgbClr val="FFFFFF"/>
                </a:solidFill>
                <a:latin typeface="Carlito"/>
                <a:cs typeface="Carlito"/>
              </a:rPr>
              <a:t>/</a:t>
            </a: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1,35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,</a:t>
            </a:r>
            <a:r>
              <a:rPr sz="2000" b="1" spc="2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 err="1" smtClean="0">
                <a:solidFill>
                  <a:srgbClr val="FFFFFF"/>
                </a:solidFill>
                <a:latin typeface="Carlito"/>
                <a:cs typeface="Carlito"/>
              </a:rPr>
              <a:t>então</a:t>
            </a:r>
            <a:endParaRPr lang="pt-BR" sz="2000" b="1" spc="-10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10540" algn="l"/>
              </a:tabLst>
            </a:pPr>
            <a:endParaRPr sz="20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51221" y="1920937"/>
            <a:ext cx="2447798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S1 = 0,16</a:t>
            </a:r>
            <a:r>
              <a:rPr sz="2400" b="1" spc="-114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00"/>
                </a:solidFill>
                <a:latin typeface="Arial"/>
                <a:cs typeface="Arial"/>
              </a:rPr>
              <a:t>m²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,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674" y="2851646"/>
            <a:ext cx="7706309" cy="1720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endParaRPr lang="pt-BR" sz="2000" b="1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S2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= Q2/V = 0,32 m2, e assim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sucessivamente </a:t>
            </a:r>
            <a:r>
              <a:rPr sz="2000" b="1" spc="-20" dirty="0">
                <a:solidFill>
                  <a:srgbClr val="FFFFFF"/>
                </a:solidFill>
                <a:latin typeface="Carlito"/>
                <a:cs typeface="Carlito"/>
              </a:rPr>
              <a:t>até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o 14º</a:t>
            </a:r>
            <a:r>
              <a:rPr sz="2000" b="1" spc="-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terraço: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S14 = Q14/V = 2,24</a:t>
            </a:r>
            <a:r>
              <a:rPr sz="2000" b="1" spc="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m²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1555" y="4950675"/>
            <a:ext cx="4188967" cy="1859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53000" y="5253537"/>
            <a:ext cx="3865245" cy="1254189"/>
          </a:xfrm>
          <a:prstGeom prst="rect">
            <a:avLst/>
          </a:prstGeom>
          <a:solidFill>
            <a:srgbClr val="1F487C"/>
          </a:solidFill>
          <a:ln w="9525">
            <a:solidFill>
              <a:srgbClr val="FF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  <a:tabLst>
                <a:tab pos="1605915" algn="l"/>
              </a:tabLst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Se h =</a:t>
            </a:r>
            <a:r>
              <a:rPr sz="2000" b="1" spc="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0,25m	e Y = 2h,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tem-se</a:t>
            </a:r>
            <a:r>
              <a:rPr sz="2000" b="1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 err="1" smtClean="0">
                <a:solidFill>
                  <a:srgbClr val="FFFFFF"/>
                </a:solidFill>
                <a:latin typeface="Carlito"/>
                <a:cs typeface="Carlito"/>
              </a:rPr>
              <a:t>que</a:t>
            </a:r>
            <a:r>
              <a:rPr lang="pt-BR" sz="2000" b="1" dirty="0" smtClean="0">
                <a:solidFill>
                  <a:srgbClr val="FFFFFF"/>
                </a:solidFill>
                <a:latin typeface="Carlito"/>
                <a:cs typeface="Carlito"/>
              </a:rPr>
              <a:t>  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 dirty="0">
              <a:latin typeface="Carlito"/>
              <a:cs typeface="Carlito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A = (( B + b)/2) x</a:t>
            </a:r>
            <a:r>
              <a:rPr sz="2000" b="1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h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5179375" y="314484"/>
            <a:ext cx="1003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>
                <a:solidFill>
                  <a:srgbClr val="FFFF00"/>
                </a:solidFill>
              </a:rPr>
              <a:t>S = Q/V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228600"/>
            <a:ext cx="57822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Calculando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B1 e b1 </a:t>
            </a:r>
            <a:r>
              <a:rPr sz="20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para </a:t>
            </a:r>
            <a:r>
              <a:rPr sz="20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o 1º.</a:t>
            </a:r>
            <a:r>
              <a:rPr sz="2000" b="1" u="heavy" spc="-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 </a:t>
            </a:r>
            <a:r>
              <a:rPr sz="2000" b="1" u="heavy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rlito"/>
                <a:cs typeface="Carlito"/>
              </a:rPr>
              <a:t>Terraço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976629"/>
            <a:ext cx="8020684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4h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, B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4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0,25, então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8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15836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Substituindo</a:t>
            </a:r>
            <a:r>
              <a:rPr sz="18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“B”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por	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“b +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1”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tendo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S1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0,16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m2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, se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S =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((b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+ 1 + b)/2) x</a:t>
            </a:r>
            <a:r>
              <a:rPr sz="1800" b="1" spc="-8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então: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0,16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((b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b)/2)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0,25, então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b1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=</a:t>
            </a:r>
            <a:r>
              <a:rPr sz="1800" b="1" spc="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0,14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Desse modo se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+ 1,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então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B =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0,14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1=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B1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=</a:t>
            </a:r>
            <a:r>
              <a:rPr sz="1800" b="1" spc="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1,14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50">
              <a:latin typeface="Arial"/>
              <a:cs typeface="Arial"/>
            </a:endParaRPr>
          </a:p>
          <a:p>
            <a:pPr marL="12700" marR="1221105">
              <a:lnSpc>
                <a:spcPct val="120100"/>
              </a:lnSpc>
            </a:pP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Para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o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segundo terraço, S2=0,32,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logo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0,32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= ((b+1+b)/2)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x 0,25  Então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: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b2=0,78 e B2=1,78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Arial"/>
              <a:cs typeface="Arial"/>
            </a:endParaRPr>
          </a:p>
          <a:p>
            <a:pPr marL="12700" marR="538480">
              <a:lnSpc>
                <a:spcPct val="100000"/>
              </a:lnSpc>
            </a:pP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E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assim são calculadas as bases maior e menor até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o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14º terraço,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ou 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seja: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S14= 2,24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2,24 </a:t>
            </a:r>
            <a:r>
              <a:rPr sz="1800" b="1" dirty="0">
                <a:solidFill>
                  <a:srgbClr val="FFFF00"/>
                </a:solidFill>
                <a:latin typeface="Arial"/>
                <a:cs typeface="Arial"/>
              </a:rPr>
              <a:t>= ((b+1+b)/2)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x 0,25, então b14= 8,46 e B14=</a:t>
            </a:r>
            <a:r>
              <a:rPr sz="1800" b="1" spc="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00"/>
                </a:solidFill>
                <a:latin typeface="Arial"/>
                <a:cs typeface="Arial"/>
              </a:rPr>
              <a:t>9,46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e 3"/>
          <p:cNvSpPr/>
          <p:nvPr/>
        </p:nvSpPr>
        <p:spPr>
          <a:xfrm>
            <a:off x="4139952" y="476672"/>
            <a:ext cx="698376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319124" y="12911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“b”</a:t>
            </a:r>
            <a:endParaRPr lang="pt-BR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4335893" y="631211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“B”</a:t>
            </a:r>
            <a:endParaRPr lang="pt-BR" b="1" dirty="0"/>
          </a:p>
        </p:txBody>
      </p:sp>
      <p:sp>
        <p:nvSpPr>
          <p:cNvPr id="7" name="Trapezoide 6"/>
          <p:cNvSpPr/>
          <p:nvPr/>
        </p:nvSpPr>
        <p:spPr>
          <a:xfrm>
            <a:off x="3995935" y="908720"/>
            <a:ext cx="1009675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rapezoide 7"/>
          <p:cNvSpPr/>
          <p:nvPr/>
        </p:nvSpPr>
        <p:spPr>
          <a:xfrm>
            <a:off x="3131840" y="3960512"/>
            <a:ext cx="2808312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apezoide 8"/>
          <p:cNvSpPr/>
          <p:nvPr/>
        </p:nvSpPr>
        <p:spPr>
          <a:xfrm>
            <a:off x="3347864" y="3068960"/>
            <a:ext cx="2304256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rapezoide 9"/>
          <p:cNvSpPr/>
          <p:nvPr/>
        </p:nvSpPr>
        <p:spPr>
          <a:xfrm>
            <a:off x="3275856" y="3501008"/>
            <a:ext cx="2520280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rapezoide 10"/>
          <p:cNvSpPr/>
          <p:nvPr/>
        </p:nvSpPr>
        <p:spPr>
          <a:xfrm>
            <a:off x="3491880" y="2636912"/>
            <a:ext cx="2016224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rapezoide 11"/>
          <p:cNvSpPr/>
          <p:nvPr/>
        </p:nvSpPr>
        <p:spPr>
          <a:xfrm>
            <a:off x="3877071" y="1340768"/>
            <a:ext cx="1224137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rapezoide 12"/>
          <p:cNvSpPr/>
          <p:nvPr/>
        </p:nvSpPr>
        <p:spPr>
          <a:xfrm>
            <a:off x="3779912" y="1772816"/>
            <a:ext cx="1440160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rapezoide 13"/>
          <p:cNvSpPr/>
          <p:nvPr/>
        </p:nvSpPr>
        <p:spPr>
          <a:xfrm>
            <a:off x="3635896" y="2204864"/>
            <a:ext cx="1728192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rapezoide 14"/>
          <p:cNvSpPr/>
          <p:nvPr/>
        </p:nvSpPr>
        <p:spPr>
          <a:xfrm>
            <a:off x="3059832" y="4392560"/>
            <a:ext cx="3024336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rapezoide 15"/>
          <p:cNvSpPr/>
          <p:nvPr/>
        </p:nvSpPr>
        <p:spPr>
          <a:xfrm>
            <a:off x="2987824" y="4824608"/>
            <a:ext cx="3240360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rapezoide 16"/>
          <p:cNvSpPr/>
          <p:nvPr/>
        </p:nvSpPr>
        <p:spPr>
          <a:xfrm>
            <a:off x="2843808" y="5256656"/>
            <a:ext cx="3528392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rapezoide 17"/>
          <p:cNvSpPr/>
          <p:nvPr/>
        </p:nvSpPr>
        <p:spPr>
          <a:xfrm>
            <a:off x="2771800" y="5688704"/>
            <a:ext cx="3744416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rapezoide 18"/>
          <p:cNvSpPr/>
          <p:nvPr/>
        </p:nvSpPr>
        <p:spPr>
          <a:xfrm>
            <a:off x="2627784" y="6139336"/>
            <a:ext cx="4032448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/>
          <p:cNvCxnSpPr>
            <a:stCxn id="6" idx="0"/>
          </p:cNvCxnSpPr>
          <p:nvPr/>
        </p:nvCxnSpPr>
        <p:spPr>
          <a:xfrm>
            <a:off x="4594137" y="631211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4746537" y="1124744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4838328" y="1556792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4979112" y="1988840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5026185" y="2440224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>
            <a:off x="5182315" y="2872272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5267144" y="3277025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>
            <a:off x="5364088" y="3717032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>
            <a:off x="5644556" y="4176536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>
            <a:off x="5746265" y="4614273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5843208" y="5005377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>
            <a:off x="6084168" y="5478369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/>
          <p:nvPr/>
        </p:nvCxnSpPr>
        <p:spPr>
          <a:xfrm>
            <a:off x="6220620" y="5904728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>
            <a:off x="6414507" y="6374696"/>
            <a:ext cx="7699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6973903" y="523648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S12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5604282" y="94007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S2</a:t>
            </a:r>
            <a:endParaRPr lang="pt-BR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5670137" y="1307854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S3</a:t>
            </a:r>
            <a:endParaRPr lang="pt-BR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5851371" y="177126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S4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5930297" y="220330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S5</a:t>
            </a:r>
            <a:endParaRPr lang="pt-BR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6086778" y="266827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S6</a:t>
            </a:r>
            <a:endParaRPr lang="pt-BR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6168458" y="303760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S7</a:t>
            </a:r>
            <a:endParaRPr lang="pt-BR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244442" y="350100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S8</a:t>
            </a:r>
            <a:endParaRPr lang="pt-BR" dirty="0"/>
          </a:p>
        </p:txBody>
      </p:sp>
      <p:sp>
        <p:nvSpPr>
          <p:cNvPr id="43" name="CaixaDeTexto 42"/>
          <p:cNvSpPr txBox="1"/>
          <p:nvPr/>
        </p:nvSpPr>
        <p:spPr>
          <a:xfrm>
            <a:off x="6516216" y="395879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S9</a:t>
            </a:r>
            <a:endParaRPr lang="pt-BR" dirty="0"/>
          </a:p>
        </p:txBody>
      </p:sp>
      <p:sp>
        <p:nvSpPr>
          <p:cNvPr id="44" name="CaixaDeTexto 43"/>
          <p:cNvSpPr txBox="1"/>
          <p:nvPr/>
        </p:nvSpPr>
        <p:spPr>
          <a:xfrm>
            <a:off x="6595740" y="439256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S10</a:t>
            </a:r>
            <a:endParaRPr lang="pt-BR" dirty="0"/>
          </a:p>
        </p:txBody>
      </p:sp>
      <p:sp>
        <p:nvSpPr>
          <p:cNvPr id="45" name="CaixaDeTexto 44"/>
          <p:cNvSpPr txBox="1"/>
          <p:nvPr/>
        </p:nvSpPr>
        <p:spPr>
          <a:xfrm>
            <a:off x="6719958" y="4801279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S11</a:t>
            </a:r>
            <a:endParaRPr lang="pt-BR" dirty="0"/>
          </a:p>
        </p:txBody>
      </p:sp>
      <p:sp>
        <p:nvSpPr>
          <p:cNvPr id="46" name="CaixaDeTexto 45"/>
          <p:cNvSpPr txBox="1"/>
          <p:nvPr/>
        </p:nvSpPr>
        <p:spPr>
          <a:xfrm>
            <a:off x="5508104" y="442851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</a:t>
            </a:r>
            <a:endParaRPr lang="pt-BR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7090922" y="5720062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S13</a:t>
            </a:r>
            <a:endParaRPr lang="pt-BR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7294664" y="617069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S14</a:t>
            </a:r>
            <a:endParaRPr lang="pt-BR" dirty="0"/>
          </a:p>
        </p:txBody>
      </p:sp>
      <p:sp>
        <p:nvSpPr>
          <p:cNvPr id="49" name="CaixaDeTexto 48"/>
          <p:cNvSpPr txBox="1"/>
          <p:nvPr/>
        </p:nvSpPr>
        <p:spPr>
          <a:xfrm>
            <a:off x="1259479" y="354722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</a:t>
            </a:r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1043608" y="704299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Q2=2Q1</a:t>
            </a:r>
            <a:endParaRPr lang="pt-BR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1043608" y="1175377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Q3=3Q1</a:t>
            </a:r>
            <a:endParaRPr lang="pt-BR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1043608" y="1616297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Q4=4Q1</a:t>
            </a:r>
            <a:endParaRPr lang="pt-BR" dirty="0"/>
          </a:p>
        </p:txBody>
      </p:sp>
      <p:sp>
        <p:nvSpPr>
          <p:cNvPr id="53" name="CaixaDeTexto 52"/>
          <p:cNvSpPr txBox="1"/>
          <p:nvPr/>
        </p:nvSpPr>
        <p:spPr>
          <a:xfrm>
            <a:off x="1019294" y="2037466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Q5=5Q1</a:t>
            </a:r>
            <a:endParaRPr lang="pt-BR" dirty="0"/>
          </a:p>
        </p:txBody>
      </p:sp>
      <p:sp>
        <p:nvSpPr>
          <p:cNvPr id="54" name="CaixaDeTexto 53"/>
          <p:cNvSpPr txBox="1"/>
          <p:nvPr/>
        </p:nvSpPr>
        <p:spPr>
          <a:xfrm>
            <a:off x="1087989" y="2418781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Q6=6Q1</a:t>
            </a:r>
            <a:endParaRPr lang="pt-BR" dirty="0"/>
          </a:p>
        </p:txBody>
      </p:sp>
      <p:sp>
        <p:nvSpPr>
          <p:cNvPr id="55" name="CaixaDeTexto 54"/>
          <p:cNvSpPr txBox="1"/>
          <p:nvPr/>
        </p:nvSpPr>
        <p:spPr>
          <a:xfrm>
            <a:off x="1041696" y="2851672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Q7=7Q1</a:t>
            </a:r>
            <a:endParaRPr lang="pt-BR" dirty="0"/>
          </a:p>
        </p:txBody>
      </p:sp>
      <p:sp>
        <p:nvSpPr>
          <p:cNvPr id="56" name="CaixaDeTexto 55"/>
          <p:cNvSpPr txBox="1"/>
          <p:nvPr/>
        </p:nvSpPr>
        <p:spPr>
          <a:xfrm>
            <a:off x="1058177" y="324433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Q8=8Q1</a:t>
            </a:r>
            <a:endParaRPr lang="pt-BR" dirty="0"/>
          </a:p>
        </p:txBody>
      </p:sp>
      <p:sp>
        <p:nvSpPr>
          <p:cNvPr id="57" name="CaixaDeTexto 56"/>
          <p:cNvSpPr txBox="1"/>
          <p:nvPr/>
        </p:nvSpPr>
        <p:spPr>
          <a:xfrm>
            <a:off x="1050474" y="3717032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Q9=9Q1</a:t>
            </a:r>
            <a:endParaRPr lang="pt-BR" dirty="0"/>
          </a:p>
        </p:txBody>
      </p:sp>
      <p:sp>
        <p:nvSpPr>
          <p:cNvPr id="58" name="CaixaDeTexto 57"/>
          <p:cNvSpPr txBox="1"/>
          <p:nvPr/>
        </p:nvSpPr>
        <p:spPr>
          <a:xfrm>
            <a:off x="970969" y="4143461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Q10=10Q1</a:t>
            </a:r>
            <a:endParaRPr lang="pt-BR" dirty="0"/>
          </a:p>
        </p:txBody>
      </p:sp>
      <p:sp>
        <p:nvSpPr>
          <p:cNvPr id="59" name="CaixaDeTexto 58"/>
          <p:cNvSpPr txBox="1"/>
          <p:nvPr/>
        </p:nvSpPr>
        <p:spPr>
          <a:xfrm>
            <a:off x="941159" y="4577547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Q11=11Q1</a:t>
            </a:r>
            <a:endParaRPr lang="pt-BR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926588" y="504063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Q12=12Q1</a:t>
            </a:r>
            <a:endParaRPr lang="pt-BR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939746" y="5463640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Q13=13Q1</a:t>
            </a:r>
            <a:endParaRPr lang="pt-BR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913402" y="5954670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Q14=14Q1</a:t>
            </a:r>
            <a:endParaRPr lang="pt-BR" dirty="0"/>
          </a:p>
        </p:txBody>
      </p:sp>
      <p:cxnSp>
        <p:nvCxnSpPr>
          <p:cNvPr id="63" name="Conector de seta reta 62"/>
          <p:cNvCxnSpPr/>
          <p:nvPr/>
        </p:nvCxnSpPr>
        <p:spPr>
          <a:xfrm flipV="1">
            <a:off x="2167130" y="462607"/>
            <a:ext cx="1972822" cy="140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/>
          <p:nvPr/>
        </p:nvCxnSpPr>
        <p:spPr>
          <a:xfrm flipV="1">
            <a:off x="2227958" y="888965"/>
            <a:ext cx="1807764" cy="19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>
            <a:off x="2227958" y="1340768"/>
            <a:ext cx="1649113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V="1">
            <a:off x="2227958" y="1781209"/>
            <a:ext cx="1620782" cy="19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/>
          <p:nvPr/>
        </p:nvCxnSpPr>
        <p:spPr>
          <a:xfrm>
            <a:off x="2227958" y="2203308"/>
            <a:ext cx="1407938" cy="89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/>
          <p:nvPr/>
        </p:nvCxnSpPr>
        <p:spPr>
          <a:xfrm>
            <a:off x="2227958" y="2603447"/>
            <a:ext cx="1303708" cy="23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>
            <a:off x="2227958" y="3068961"/>
            <a:ext cx="10967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/>
          <p:nvPr/>
        </p:nvCxnSpPr>
        <p:spPr>
          <a:xfrm>
            <a:off x="2227958" y="3501008"/>
            <a:ext cx="1031378" cy="4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V="1">
            <a:off x="2227958" y="3919473"/>
            <a:ext cx="970550" cy="13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/>
          <p:cNvCxnSpPr/>
          <p:nvPr/>
        </p:nvCxnSpPr>
        <p:spPr>
          <a:xfrm>
            <a:off x="2235808" y="4390431"/>
            <a:ext cx="783952" cy="4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/>
          <p:nvPr/>
        </p:nvCxnSpPr>
        <p:spPr>
          <a:xfrm>
            <a:off x="2239413" y="4820351"/>
            <a:ext cx="698503" cy="42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/>
          <p:cNvCxnSpPr/>
          <p:nvPr/>
        </p:nvCxnSpPr>
        <p:spPr>
          <a:xfrm>
            <a:off x="2227958" y="5225298"/>
            <a:ext cx="645226" cy="1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de seta reta 92"/>
          <p:cNvCxnSpPr>
            <a:stCxn id="61" idx="3"/>
          </p:cNvCxnSpPr>
          <p:nvPr/>
        </p:nvCxnSpPr>
        <p:spPr>
          <a:xfrm>
            <a:off x="2135907" y="5648306"/>
            <a:ext cx="607740" cy="201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>
            <a:stCxn id="62" idx="3"/>
          </p:cNvCxnSpPr>
          <p:nvPr/>
        </p:nvCxnSpPr>
        <p:spPr>
          <a:xfrm flipV="1">
            <a:off x="2109563" y="6120753"/>
            <a:ext cx="571123" cy="18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rapezoide 73"/>
          <p:cNvSpPr/>
          <p:nvPr/>
        </p:nvSpPr>
        <p:spPr>
          <a:xfrm rot="10800000">
            <a:off x="6719958" y="1523878"/>
            <a:ext cx="2016224" cy="432048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/>
          <p:cNvCxnSpPr>
            <a:stCxn id="74" idx="3"/>
          </p:cNvCxnSpPr>
          <p:nvPr/>
        </p:nvCxnSpPr>
        <p:spPr>
          <a:xfrm>
            <a:off x="6773964" y="1739902"/>
            <a:ext cx="80155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/>
          <p:nvPr/>
        </p:nvCxnSpPr>
        <p:spPr>
          <a:xfrm>
            <a:off x="6857991" y="1677186"/>
            <a:ext cx="0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8610600" y="1677187"/>
            <a:ext cx="0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/>
          <p:nvPr/>
        </p:nvCxnSpPr>
        <p:spPr>
          <a:xfrm>
            <a:off x="6689469" y="1265969"/>
            <a:ext cx="0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/>
          <p:nvPr/>
        </p:nvCxnSpPr>
        <p:spPr>
          <a:xfrm>
            <a:off x="8736182" y="1265969"/>
            <a:ext cx="0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6516216" y="539389"/>
            <a:ext cx="2475384" cy="19008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233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apezoide 4"/>
          <p:cNvSpPr/>
          <p:nvPr/>
        </p:nvSpPr>
        <p:spPr>
          <a:xfrm>
            <a:off x="2895600" y="609600"/>
            <a:ext cx="2743199" cy="5943600"/>
          </a:xfrm>
          <a:prstGeom prst="trapezoid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/>
          <p:nvPr/>
        </p:nvCxnSpPr>
        <p:spPr>
          <a:xfrm>
            <a:off x="3505200" y="1066800"/>
            <a:ext cx="144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>
            <a:off x="3383280" y="1493520"/>
            <a:ext cx="16687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3383280" y="1905000"/>
            <a:ext cx="1676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3428998" y="2286000"/>
            <a:ext cx="1676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3383280" y="27432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3238500" y="3124200"/>
            <a:ext cx="1943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5" idx="1"/>
            <a:endCxn id="5" idx="3"/>
          </p:cNvCxnSpPr>
          <p:nvPr/>
        </p:nvCxnSpPr>
        <p:spPr>
          <a:xfrm>
            <a:off x="3238500" y="3581400"/>
            <a:ext cx="20573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3124200" y="449580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3238500" y="4038600"/>
            <a:ext cx="20573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3619500" y="4495800"/>
            <a:ext cx="1676399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3124200" y="487680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3086099" y="5334000"/>
            <a:ext cx="2324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2895600" y="57912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/>
          <p:nvPr/>
        </p:nvCxnSpPr>
        <p:spPr>
          <a:xfrm>
            <a:off x="2895600" y="6248400"/>
            <a:ext cx="2743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/>
          <p:nvPr/>
        </p:nvCxnSpPr>
        <p:spPr>
          <a:xfrm flipH="1" flipV="1">
            <a:off x="3455670" y="152400"/>
            <a:ext cx="72392" cy="457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>
            <a:off x="2895600" y="5791200"/>
            <a:ext cx="2743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/>
          <p:cNvCxnSpPr/>
          <p:nvPr/>
        </p:nvCxnSpPr>
        <p:spPr>
          <a:xfrm flipV="1">
            <a:off x="4953000" y="152400"/>
            <a:ext cx="106681" cy="457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 flipV="1">
            <a:off x="3398518" y="701040"/>
            <a:ext cx="91442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V="1">
            <a:off x="5006340" y="609600"/>
            <a:ext cx="45718" cy="457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/>
          <p:nvPr/>
        </p:nvCxnSpPr>
        <p:spPr>
          <a:xfrm flipH="1" flipV="1">
            <a:off x="3299460" y="1112520"/>
            <a:ext cx="129540" cy="3505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/>
          <p:nvPr/>
        </p:nvCxnSpPr>
        <p:spPr>
          <a:xfrm flipV="1">
            <a:off x="5029199" y="1112520"/>
            <a:ext cx="68582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/>
          <p:nvPr/>
        </p:nvCxnSpPr>
        <p:spPr>
          <a:xfrm flipV="1">
            <a:off x="5063490" y="1524000"/>
            <a:ext cx="45723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 flipV="1">
            <a:off x="3261360" y="1905000"/>
            <a:ext cx="137158" cy="3505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V="1">
            <a:off x="5135880" y="1928425"/>
            <a:ext cx="45720" cy="3575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V="1">
            <a:off x="3375660" y="23622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/>
          <p:nvPr/>
        </p:nvCxnSpPr>
        <p:spPr>
          <a:xfrm flipV="1">
            <a:off x="5196840" y="2286000"/>
            <a:ext cx="99059" cy="419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 flipV="1">
            <a:off x="3200400" y="2286000"/>
            <a:ext cx="99060" cy="419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V="1">
            <a:off x="5196840" y="2705100"/>
            <a:ext cx="137159" cy="419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/>
          <p:nvPr/>
        </p:nvCxnSpPr>
        <p:spPr>
          <a:xfrm flipH="1" flipV="1">
            <a:off x="3131820" y="2750820"/>
            <a:ext cx="129540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/>
          <p:nvPr/>
        </p:nvCxnSpPr>
        <p:spPr>
          <a:xfrm flipV="1">
            <a:off x="5326378" y="3200400"/>
            <a:ext cx="83822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/>
          <p:nvPr/>
        </p:nvCxnSpPr>
        <p:spPr>
          <a:xfrm flipH="1" flipV="1">
            <a:off x="3131820" y="3124200"/>
            <a:ext cx="64770" cy="388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/>
          <p:nvPr/>
        </p:nvCxnSpPr>
        <p:spPr>
          <a:xfrm flipV="1">
            <a:off x="5333999" y="3657600"/>
            <a:ext cx="76201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/>
          <p:nvPr/>
        </p:nvCxnSpPr>
        <p:spPr>
          <a:xfrm flipH="1" flipV="1">
            <a:off x="3063239" y="3657600"/>
            <a:ext cx="68581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/>
          <p:nvPr/>
        </p:nvCxnSpPr>
        <p:spPr>
          <a:xfrm flipV="1">
            <a:off x="5410200" y="4130040"/>
            <a:ext cx="76200" cy="4419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/>
          <p:nvPr/>
        </p:nvCxnSpPr>
        <p:spPr>
          <a:xfrm flipH="1" flipV="1">
            <a:off x="2948940" y="4114800"/>
            <a:ext cx="152399" cy="396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ector reto 100"/>
          <p:cNvCxnSpPr/>
          <p:nvPr/>
        </p:nvCxnSpPr>
        <p:spPr>
          <a:xfrm flipH="1" flipV="1">
            <a:off x="2895600" y="4495800"/>
            <a:ext cx="167639" cy="396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to 101"/>
          <p:cNvCxnSpPr/>
          <p:nvPr/>
        </p:nvCxnSpPr>
        <p:spPr>
          <a:xfrm flipH="1" flipV="1">
            <a:off x="2941320" y="4953000"/>
            <a:ext cx="121919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to 102"/>
          <p:cNvCxnSpPr/>
          <p:nvPr/>
        </p:nvCxnSpPr>
        <p:spPr>
          <a:xfrm flipH="1" flipV="1">
            <a:off x="2895600" y="5410200"/>
            <a:ext cx="38100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/>
          <p:cNvCxnSpPr/>
          <p:nvPr/>
        </p:nvCxnSpPr>
        <p:spPr>
          <a:xfrm flipV="1">
            <a:off x="2941320" y="58674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to 104"/>
          <p:cNvCxnSpPr/>
          <p:nvPr/>
        </p:nvCxnSpPr>
        <p:spPr>
          <a:xfrm flipV="1">
            <a:off x="5494020" y="4876800"/>
            <a:ext cx="83818" cy="419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/>
          <p:cNvCxnSpPr/>
          <p:nvPr/>
        </p:nvCxnSpPr>
        <p:spPr>
          <a:xfrm flipV="1">
            <a:off x="5551169" y="5410200"/>
            <a:ext cx="87630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to 106"/>
          <p:cNvCxnSpPr/>
          <p:nvPr/>
        </p:nvCxnSpPr>
        <p:spPr>
          <a:xfrm flipH="1" flipV="1">
            <a:off x="2895600" y="5867400"/>
            <a:ext cx="53340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/>
          <p:nvPr/>
        </p:nvCxnSpPr>
        <p:spPr>
          <a:xfrm flipV="1">
            <a:off x="5577838" y="5867400"/>
            <a:ext cx="60961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to 108"/>
          <p:cNvCxnSpPr/>
          <p:nvPr/>
        </p:nvCxnSpPr>
        <p:spPr>
          <a:xfrm flipH="1" flipV="1">
            <a:off x="2789126" y="6172200"/>
            <a:ext cx="106474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/>
          <p:nvPr/>
        </p:nvCxnSpPr>
        <p:spPr>
          <a:xfrm flipV="1">
            <a:off x="5638799" y="6172200"/>
            <a:ext cx="152401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/>
          <p:nvPr/>
        </p:nvCxnSpPr>
        <p:spPr>
          <a:xfrm flipH="1" flipV="1">
            <a:off x="3261360" y="1493520"/>
            <a:ext cx="114300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/>
          <p:cNvCxnSpPr/>
          <p:nvPr/>
        </p:nvCxnSpPr>
        <p:spPr>
          <a:xfrm flipV="1">
            <a:off x="5448298" y="4572000"/>
            <a:ext cx="114302" cy="381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de seta reta 126"/>
          <p:cNvCxnSpPr/>
          <p:nvPr/>
        </p:nvCxnSpPr>
        <p:spPr>
          <a:xfrm>
            <a:off x="6781800" y="891540"/>
            <a:ext cx="0" cy="5166360"/>
          </a:xfrm>
          <a:prstGeom prst="straightConnector1">
            <a:avLst/>
          </a:prstGeom>
          <a:ln w="28575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aixaDeTexto 127"/>
          <p:cNvSpPr txBox="1"/>
          <p:nvPr/>
        </p:nvSpPr>
        <p:spPr>
          <a:xfrm>
            <a:off x="498370" y="851207"/>
            <a:ext cx="22907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rgbClr val="FFFF00"/>
                </a:solidFill>
              </a:rPr>
              <a:t>LOCAÇÃO</a:t>
            </a:r>
          </a:p>
          <a:p>
            <a:pPr algn="ctr"/>
            <a:r>
              <a:rPr lang="pt-BR" sz="3200" b="1" dirty="0" smtClean="0">
                <a:solidFill>
                  <a:srgbClr val="FFFF00"/>
                </a:solidFill>
              </a:rPr>
              <a:t> DE ESTACAS</a:t>
            </a:r>
            <a:endParaRPr lang="pt-BR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3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2" y="221945"/>
            <a:ext cx="4178097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4° </a:t>
            </a:r>
            <a:r>
              <a:rPr sz="4000" spc="-20" dirty="0"/>
              <a:t>Passo</a:t>
            </a:r>
            <a:r>
              <a:rPr sz="4000" spc="-95" dirty="0"/>
              <a:t> </a:t>
            </a:r>
            <a:r>
              <a:rPr sz="4000" spc="-5" dirty="0"/>
              <a:t>: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970169"/>
            <a:ext cx="8312353" cy="1107996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60"/>
              </a:spcBef>
            </a:pP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Calcular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a </a:t>
            </a:r>
            <a:r>
              <a:rPr sz="2400" b="1" spc="-5" dirty="0">
                <a:solidFill>
                  <a:srgbClr val="FFFF00"/>
                </a:solidFill>
                <a:latin typeface="Carlito"/>
                <a:cs typeface="Carlito"/>
              </a:rPr>
              <a:t>velocidade </a:t>
            </a:r>
            <a:r>
              <a:rPr sz="2400" b="1" dirty="0">
                <a:solidFill>
                  <a:srgbClr val="FFFF00"/>
                </a:solidFill>
                <a:latin typeface="Carlito"/>
                <a:cs typeface="Carlito"/>
              </a:rPr>
              <a:t>da</a:t>
            </a:r>
            <a:r>
              <a:rPr sz="2400" b="1" spc="-4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FF00"/>
                </a:solidFill>
                <a:latin typeface="Carlito"/>
                <a:cs typeface="Carlito"/>
              </a:rPr>
              <a:t>enxurrada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marL="68580">
              <a:lnSpc>
                <a:spcPts val="2280"/>
              </a:lnSpc>
              <a:spcBef>
                <a:spcPts val="475"/>
              </a:spcBef>
            </a:pP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Para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calcular a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velocidade da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enxurrada, emprega-se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fórmula </a:t>
            </a:r>
            <a:r>
              <a:rPr sz="2000" spc="-15" dirty="0" err="1">
                <a:solidFill>
                  <a:srgbClr val="FFFFFF"/>
                </a:solidFill>
                <a:latin typeface="Carlito"/>
                <a:cs typeface="Carlito"/>
              </a:rPr>
              <a:t>proposta</a:t>
            </a:r>
            <a:r>
              <a:rPr sz="2000" spc="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 err="1" smtClean="0">
                <a:solidFill>
                  <a:srgbClr val="FFFFFF"/>
                </a:solidFill>
                <a:latin typeface="Carlito"/>
                <a:cs typeface="Carlito"/>
              </a:rPr>
              <a:t>por</a:t>
            </a:r>
            <a:r>
              <a:rPr lang="pt-BR" sz="2000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 smtClean="0">
                <a:solidFill>
                  <a:srgbClr val="FFFF00"/>
                </a:solidFill>
                <a:latin typeface="Carlito"/>
                <a:cs typeface="Carlito"/>
              </a:rPr>
              <a:t>Manning</a:t>
            </a:r>
            <a:r>
              <a:rPr sz="2000" b="1" dirty="0">
                <a:solidFill>
                  <a:srgbClr val="FFFF00"/>
                </a:solid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2900" y="2563748"/>
            <a:ext cx="1485265" cy="313055"/>
          </a:xfrm>
          <a:custGeom>
            <a:avLst/>
            <a:gdLst/>
            <a:ahLst/>
            <a:cxnLst/>
            <a:rect l="l" t="t" r="r" b="b"/>
            <a:pathLst>
              <a:path w="1485264" h="313055">
                <a:moveTo>
                  <a:pt x="1402836" y="0"/>
                </a:moveTo>
                <a:lnTo>
                  <a:pt x="1399661" y="10413"/>
                </a:lnTo>
                <a:lnTo>
                  <a:pt x="1414065" y="17843"/>
                </a:lnTo>
                <a:lnTo>
                  <a:pt x="1426600" y="28701"/>
                </a:lnTo>
                <a:lnTo>
                  <a:pt x="1452923" y="81208"/>
                </a:lnTo>
                <a:lnTo>
                  <a:pt x="1460785" y="129214"/>
                </a:lnTo>
                <a:lnTo>
                  <a:pt x="1461764" y="156717"/>
                </a:lnTo>
                <a:lnTo>
                  <a:pt x="1460785" y="184128"/>
                </a:lnTo>
                <a:lnTo>
                  <a:pt x="1452923" y="231995"/>
                </a:lnTo>
                <a:lnTo>
                  <a:pt x="1437255" y="270119"/>
                </a:lnTo>
                <a:lnTo>
                  <a:pt x="1399661" y="302640"/>
                </a:lnTo>
                <a:lnTo>
                  <a:pt x="1402836" y="313054"/>
                </a:lnTo>
                <a:lnTo>
                  <a:pt x="1437776" y="294370"/>
                </a:lnTo>
                <a:lnTo>
                  <a:pt x="1463669" y="259206"/>
                </a:lnTo>
                <a:lnTo>
                  <a:pt x="1479734" y="211899"/>
                </a:lnTo>
                <a:lnTo>
                  <a:pt x="1485132" y="156590"/>
                </a:lnTo>
                <a:lnTo>
                  <a:pt x="1483778" y="127875"/>
                </a:lnTo>
                <a:lnTo>
                  <a:pt x="1473023" y="76491"/>
                </a:lnTo>
                <a:lnTo>
                  <a:pt x="1451860" y="34200"/>
                </a:lnTo>
                <a:lnTo>
                  <a:pt x="1421431" y="7288"/>
                </a:lnTo>
                <a:lnTo>
                  <a:pt x="1402836" y="0"/>
                </a:lnTo>
                <a:close/>
              </a:path>
              <a:path w="1485264" h="313055">
                <a:moveTo>
                  <a:pt x="82163" y="0"/>
                </a:moveTo>
                <a:lnTo>
                  <a:pt x="47222" y="18684"/>
                </a:lnTo>
                <a:lnTo>
                  <a:pt x="21330" y="53848"/>
                </a:lnTo>
                <a:lnTo>
                  <a:pt x="5328" y="101171"/>
                </a:lnTo>
                <a:lnTo>
                  <a:pt x="0" y="156717"/>
                </a:lnTo>
                <a:lnTo>
                  <a:pt x="1327" y="185233"/>
                </a:lnTo>
                <a:lnTo>
                  <a:pt x="11995" y="236565"/>
                </a:lnTo>
                <a:lnTo>
                  <a:pt x="33139" y="278854"/>
                </a:lnTo>
                <a:lnTo>
                  <a:pt x="63567" y="305766"/>
                </a:lnTo>
                <a:lnTo>
                  <a:pt x="82163" y="313054"/>
                </a:lnTo>
                <a:lnTo>
                  <a:pt x="85338" y="302640"/>
                </a:lnTo>
                <a:lnTo>
                  <a:pt x="70951" y="295213"/>
                </a:lnTo>
                <a:lnTo>
                  <a:pt x="58445" y="284368"/>
                </a:lnTo>
                <a:lnTo>
                  <a:pt x="32075" y="231995"/>
                </a:lnTo>
                <a:lnTo>
                  <a:pt x="24213" y="184128"/>
                </a:lnTo>
                <a:lnTo>
                  <a:pt x="23239" y="156590"/>
                </a:lnTo>
                <a:lnTo>
                  <a:pt x="24213" y="129214"/>
                </a:lnTo>
                <a:lnTo>
                  <a:pt x="32075" y="81208"/>
                </a:lnTo>
                <a:lnTo>
                  <a:pt x="47797" y="42989"/>
                </a:lnTo>
                <a:lnTo>
                  <a:pt x="85338" y="10413"/>
                </a:lnTo>
                <a:lnTo>
                  <a:pt x="821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31820" y="2276868"/>
            <a:ext cx="2952750" cy="1224280"/>
          </a:xfrm>
          <a:prstGeom prst="rect">
            <a:avLst/>
          </a:prstGeom>
          <a:solidFill>
            <a:srgbClr val="1F487C"/>
          </a:solidFill>
          <a:ln w="25400">
            <a:solidFill>
              <a:srgbClr val="FFFF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1075690">
              <a:lnSpc>
                <a:spcPts val="2085"/>
              </a:lnSpc>
              <a:spcBef>
                <a:spcPts val="1285"/>
              </a:spcBef>
            </a:pPr>
            <a:r>
              <a:rPr sz="3075" spc="277" baseline="-20325" dirty="0">
                <a:solidFill>
                  <a:srgbClr val="FFFFFF"/>
                </a:solidFill>
                <a:latin typeface="Trebuchet MS"/>
                <a:cs typeface="Trebuchet MS"/>
              </a:rPr>
              <a:t>𝑹</a:t>
            </a:r>
            <a:r>
              <a:rPr sz="1650" spc="185" dirty="0">
                <a:solidFill>
                  <a:srgbClr val="FFFFFF"/>
                </a:solidFill>
                <a:latin typeface="Trebuchet MS"/>
                <a:cs typeface="Trebuchet MS"/>
              </a:rPr>
              <a:t>𝟐/𝟑</a:t>
            </a:r>
            <a:r>
              <a:rPr sz="3075" spc="277" baseline="-20325" dirty="0">
                <a:solidFill>
                  <a:srgbClr val="FFFFFF"/>
                </a:solidFill>
                <a:latin typeface="Trebuchet MS"/>
                <a:cs typeface="Trebuchet MS"/>
              </a:rPr>
              <a:t>𝒙</a:t>
            </a:r>
            <a:r>
              <a:rPr sz="3075" spc="382" baseline="-20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75" spc="67" baseline="-20325" dirty="0">
                <a:solidFill>
                  <a:srgbClr val="FFFFFF"/>
                </a:solidFill>
                <a:latin typeface="Trebuchet MS"/>
                <a:cs typeface="Trebuchet MS"/>
              </a:rPr>
              <a:t>𝑰</a:t>
            </a:r>
            <a:r>
              <a:rPr sz="1650" spc="45" dirty="0">
                <a:solidFill>
                  <a:srgbClr val="FFFFFF"/>
                </a:solidFill>
                <a:latin typeface="Trebuchet MS"/>
                <a:cs typeface="Trebuchet MS"/>
              </a:rPr>
              <a:t>𝟏/𝟐</a:t>
            </a:r>
            <a:endParaRPr sz="1650">
              <a:latin typeface="Trebuchet MS"/>
              <a:cs typeface="Trebuchet MS"/>
            </a:endParaRPr>
          </a:p>
          <a:p>
            <a:pPr marL="409575">
              <a:lnSpc>
                <a:spcPts val="2985"/>
              </a:lnSpc>
              <a:tabLst>
                <a:tab pos="1639570" algn="l"/>
              </a:tabLst>
            </a:pPr>
            <a:r>
              <a:rPr sz="2800" b="1" spc="-5" dirty="0">
                <a:solidFill>
                  <a:srgbClr val="FFFFFF"/>
                </a:solidFill>
                <a:latin typeface="Carlito"/>
                <a:cs typeface="Carlito"/>
              </a:rPr>
              <a:t>V =	</a:t>
            </a:r>
            <a:r>
              <a:rPr sz="3075" spc="442" baseline="-37940" dirty="0">
                <a:solidFill>
                  <a:srgbClr val="FFFFFF"/>
                </a:solidFill>
                <a:latin typeface="Trebuchet MS"/>
                <a:cs typeface="Trebuchet MS"/>
              </a:rPr>
              <a:t>𝒏</a:t>
            </a:r>
            <a:endParaRPr sz="3075" baseline="-3794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90034" y="2899410"/>
            <a:ext cx="1530350" cy="22860"/>
          </a:xfrm>
          <a:custGeom>
            <a:avLst/>
            <a:gdLst/>
            <a:ahLst/>
            <a:cxnLst/>
            <a:rect l="l" t="t" r="r" b="b"/>
            <a:pathLst>
              <a:path w="1530350" h="22860">
                <a:moveTo>
                  <a:pt x="1530096" y="0"/>
                </a:moveTo>
                <a:lnTo>
                  <a:pt x="0" y="0"/>
                </a:lnTo>
                <a:lnTo>
                  <a:pt x="0" y="22860"/>
                </a:lnTo>
                <a:lnTo>
                  <a:pt x="1530096" y="22860"/>
                </a:lnTo>
                <a:lnTo>
                  <a:pt x="15300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203" y="3512311"/>
            <a:ext cx="6425997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Em</a:t>
            </a:r>
            <a:r>
              <a:rPr sz="20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que: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 dirty="0">
              <a:latin typeface="Carlito"/>
              <a:cs typeface="Carlito"/>
            </a:endParaRPr>
          </a:p>
          <a:p>
            <a:pPr marL="449580" indent="-399415">
              <a:lnSpc>
                <a:spcPct val="100000"/>
              </a:lnSpc>
              <a:buFont typeface="Arial"/>
              <a:buChar char="•"/>
              <a:tabLst>
                <a:tab pos="449580" algn="l"/>
                <a:tab pos="450215" algn="l"/>
              </a:tabLst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V =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Velocidade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média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da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enxurrada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(m</a:t>
            </a:r>
            <a:r>
              <a:rPr sz="20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rebuchet MS"/>
                <a:cs typeface="Trebuchet MS"/>
              </a:rPr>
              <a:t>𝑠</a:t>
            </a:r>
            <a:r>
              <a:rPr sz="2175" spc="14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−1</a:t>
            </a:r>
            <a:r>
              <a:rPr sz="2000" spc="95" dirty="0">
                <a:solidFill>
                  <a:srgbClr val="FFFFFF"/>
                </a:solidFill>
                <a:latin typeface="Carlito"/>
                <a:cs typeface="Carlito"/>
              </a:rPr>
              <a:t>);</a:t>
            </a:r>
            <a:endParaRPr sz="2000" dirty="0">
              <a:latin typeface="Carlito"/>
              <a:cs typeface="Carlito"/>
            </a:endParaRPr>
          </a:p>
          <a:p>
            <a:pPr marL="449580" indent="-39941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449580" algn="l"/>
                <a:tab pos="450215" algn="l"/>
              </a:tabLst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R = Raio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hidráulico</a:t>
            </a:r>
            <a:r>
              <a:rPr sz="2000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(m);</a:t>
            </a:r>
            <a:endParaRPr sz="2000" dirty="0">
              <a:latin typeface="Carlito"/>
              <a:cs typeface="Carlito"/>
            </a:endParaRPr>
          </a:p>
          <a:p>
            <a:pPr marL="508000" indent="-4572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507365" algn="l"/>
                <a:tab pos="508000" algn="l"/>
              </a:tabLst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I =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Declividade do canal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( m </a:t>
            </a:r>
            <a:r>
              <a:rPr sz="2000" spc="235" dirty="0">
                <a:solidFill>
                  <a:srgbClr val="FFFFFF"/>
                </a:solidFill>
                <a:latin typeface="Trebuchet MS"/>
                <a:cs typeface="Trebuchet MS"/>
              </a:rPr>
              <a:t>𝑚</a:t>
            </a:r>
            <a:r>
              <a:rPr sz="2175" spc="352" baseline="28735" dirty="0">
                <a:solidFill>
                  <a:srgbClr val="FFFFFF"/>
                </a:solidFill>
                <a:latin typeface="Trebuchet MS"/>
                <a:cs typeface="Trebuchet MS"/>
              </a:rPr>
              <a:t>−1</a:t>
            </a:r>
            <a:r>
              <a:rPr sz="2000" spc="235" dirty="0">
                <a:solidFill>
                  <a:srgbClr val="FFFFFF"/>
                </a:solidFill>
                <a:latin typeface="Carlito"/>
                <a:cs typeface="Carlito"/>
              </a:rPr>
              <a:t>);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endParaRPr sz="2000" dirty="0">
              <a:latin typeface="Carlito"/>
              <a:cs typeface="Carlito"/>
            </a:endParaRPr>
          </a:p>
          <a:p>
            <a:pPr marL="508000" indent="-4572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507365" algn="l"/>
                <a:tab pos="508000" algn="l"/>
              </a:tabLst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n =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coeficiente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de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rugosidade.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303" y="741679"/>
            <a:ext cx="7960995" cy="1379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u="none" dirty="0"/>
              <a:t>O </a:t>
            </a:r>
            <a:r>
              <a:rPr sz="2400" b="1" u="none" dirty="0">
                <a:solidFill>
                  <a:srgbClr val="FFFF00"/>
                </a:solidFill>
                <a:latin typeface="Carlito"/>
                <a:cs typeface="Carlito"/>
              </a:rPr>
              <a:t>Raio </a:t>
            </a:r>
            <a:r>
              <a:rPr sz="2400" b="1" u="none" spc="-10" dirty="0">
                <a:solidFill>
                  <a:srgbClr val="FFFF00"/>
                </a:solidFill>
                <a:latin typeface="Carlito"/>
                <a:cs typeface="Carlito"/>
              </a:rPr>
              <a:t>hidráulico </a:t>
            </a:r>
            <a:r>
              <a:rPr sz="2400" u="none" dirty="0"/>
              <a:t>(R) </a:t>
            </a:r>
            <a:r>
              <a:rPr sz="2400" u="none" spc="-5" dirty="0"/>
              <a:t>pode ser obtido </a:t>
            </a:r>
            <a:r>
              <a:rPr sz="2400" u="none" dirty="0"/>
              <a:t>em </a:t>
            </a:r>
            <a:r>
              <a:rPr sz="2400" u="none" spc="-10" dirty="0"/>
              <a:t>quadros, porém, como  </a:t>
            </a:r>
            <a:r>
              <a:rPr sz="2400" u="none" spc="-5" dirty="0"/>
              <a:t>no </a:t>
            </a:r>
            <a:r>
              <a:rPr sz="2400" u="none" spc="-15" dirty="0"/>
              <a:t>exemplo </a:t>
            </a:r>
            <a:r>
              <a:rPr sz="2400" u="none" dirty="0"/>
              <a:t>o </a:t>
            </a:r>
            <a:r>
              <a:rPr sz="2400" u="none" spc="-10" dirty="0"/>
              <a:t>canal escoadouro </a:t>
            </a:r>
            <a:r>
              <a:rPr sz="2400" u="none" spc="-5" dirty="0"/>
              <a:t>não possui seção </a:t>
            </a:r>
            <a:r>
              <a:rPr sz="2400" u="none" spc="-10" dirty="0"/>
              <a:t>uniforme </a:t>
            </a:r>
            <a:r>
              <a:rPr sz="2400" u="none" dirty="0"/>
              <a:t>em  </a:t>
            </a:r>
            <a:r>
              <a:rPr sz="2400" u="none" spc="-10" dirty="0"/>
              <a:t>toda </a:t>
            </a:r>
            <a:r>
              <a:rPr sz="2400" u="none" spc="-5" dirty="0"/>
              <a:t>sua </a:t>
            </a:r>
            <a:r>
              <a:rPr sz="2400" u="none" spc="-15" dirty="0"/>
              <a:t>extensão, </a:t>
            </a:r>
            <a:r>
              <a:rPr sz="2400" u="none" dirty="0"/>
              <a:t>essa </a:t>
            </a:r>
            <a:r>
              <a:rPr sz="2400" u="none" spc="-15" dirty="0"/>
              <a:t>informação deve </a:t>
            </a:r>
            <a:r>
              <a:rPr sz="2400" u="none" spc="-5" dirty="0"/>
              <a:t>ser obtida </a:t>
            </a:r>
            <a:r>
              <a:rPr sz="2400" u="none" spc="-20" dirty="0"/>
              <a:t>através </a:t>
            </a:r>
            <a:r>
              <a:rPr sz="2400" u="none" spc="-5" dirty="0"/>
              <a:t>da  </a:t>
            </a:r>
            <a:r>
              <a:rPr sz="2400" u="none" spc="-15" dirty="0"/>
              <a:t>formula: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7159" y="2489961"/>
            <a:ext cx="20955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350" spc="745" dirty="0">
                <a:solidFill>
                  <a:srgbClr val="FFFFFF"/>
                </a:solidFill>
                <a:latin typeface="Trebuchet MS"/>
                <a:cs typeface="Trebuchet MS"/>
              </a:rPr>
              <a:t>𝐴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4630" y="2617977"/>
            <a:ext cx="145377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rlito"/>
                <a:cs typeface="Carlito"/>
              </a:rPr>
              <a:t>R =</a:t>
            </a:r>
            <a:r>
              <a:rPr sz="3200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525" spc="907" baseline="-37825" dirty="0" smtClean="0">
                <a:solidFill>
                  <a:srgbClr val="FFFFFF"/>
                </a:solidFill>
                <a:latin typeface="Trebuchet MS"/>
                <a:cs typeface="Trebuchet MS"/>
              </a:rPr>
              <a:t>𝑃</a:t>
            </a:r>
            <a:r>
              <a:rPr lang="pt-BR" sz="3525" spc="907" baseline="-37825" dirty="0" smtClean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endParaRPr sz="3525" baseline="-37825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4630" y="2286000"/>
            <a:ext cx="1812925" cy="1300111"/>
            <a:chOff x="4781930" y="2408186"/>
            <a:chExt cx="1825625" cy="1177925"/>
          </a:xfrm>
        </p:grpSpPr>
        <p:sp>
          <p:nvSpPr>
            <p:cNvPr id="6" name="object 6"/>
            <p:cNvSpPr/>
            <p:nvPr/>
          </p:nvSpPr>
          <p:spPr>
            <a:xfrm>
              <a:off x="5586602" y="2908935"/>
              <a:ext cx="460375" cy="26034"/>
            </a:xfrm>
            <a:custGeom>
              <a:avLst/>
              <a:gdLst/>
              <a:ahLst/>
              <a:cxnLst/>
              <a:rect l="l" t="t" r="r" b="b"/>
              <a:pathLst>
                <a:path w="460375" h="26035">
                  <a:moveTo>
                    <a:pt x="46024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460248" y="25908"/>
                  </a:lnTo>
                  <a:lnTo>
                    <a:pt x="460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94630" y="2420886"/>
              <a:ext cx="1800225" cy="1152525"/>
            </a:xfrm>
            <a:custGeom>
              <a:avLst/>
              <a:gdLst/>
              <a:ahLst/>
              <a:cxnLst/>
              <a:rect l="l" t="t" r="r" b="b"/>
              <a:pathLst>
                <a:path w="1800225" h="1152525">
                  <a:moveTo>
                    <a:pt x="0" y="1152131"/>
                  </a:moveTo>
                  <a:lnTo>
                    <a:pt x="1800225" y="1152131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152131"/>
                  </a:lnTo>
                  <a:close/>
                </a:path>
              </a:pathLst>
            </a:custGeom>
            <a:ln w="254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6302" y="3631819"/>
            <a:ext cx="7911897" cy="24057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Em que</a:t>
            </a:r>
            <a:r>
              <a:rPr sz="2400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R = Raio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hidráulico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(m</a:t>
            </a:r>
            <a:r>
              <a:rPr sz="24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);</a:t>
            </a:r>
            <a:endParaRPr sz="24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4965" algn="l"/>
                <a:tab pos="355600" algn="l"/>
                <a:tab pos="5198745" algn="l"/>
              </a:tabLst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 = </a:t>
            </a:r>
            <a:r>
              <a:rPr lang="pt-BR" sz="2400" dirty="0" smtClean="0">
                <a:solidFill>
                  <a:srgbClr val="FFFFFF"/>
                </a:solidFill>
                <a:latin typeface="Carlito"/>
                <a:cs typeface="Carlito"/>
              </a:rPr>
              <a:t>S = </a:t>
            </a:r>
            <a:r>
              <a:rPr sz="2400" spc="-10" dirty="0" err="1" smtClean="0">
                <a:solidFill>
                  <a:srgbClr val="FFFFFF"/>
                </a:solidFill>
                <a:latin typeface="Carlito"/>
                <a:cs typeface="Carlito"/>
              </a:rPr>
              <a:t>Área</a:t>
            </a:r>
            <a:r>
              <a:rPr sz="2400" spc="-10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da 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seção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transversal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do</a:t>
            </a:r>
            <a:r>
              <a:rPr sz="2400" spc="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10" dirty="0" smtClean="0">
                <a:solidFill>
                  <a:srgbClr val="FFFFFF"/>
                </a:solidFill>
                <a:latin typeface="Carlito"/>
                <a:cs typeface="Carlito"/>
              </a:rPr>
              <a:t>canal</a:t>
            </a:r>
            <a:endParaRPr lang="pt-BR" sz="2400" spc="-10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4965" algn="l"/>
                <a:tab pos="355600" algn="l"/>
                <a:tab pos="5198745" algn="l"/>
              </a:tabLst>
            </a:pPr>
            <a:r>
              <a:rPr sz="2400" spc="-5" dirty="0" smtClean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=((B+b)/2)xh;</a:t>
            </a:r>
            <a:endParaRPr sz="2400" dirty="0">
              <a:latin typeface="Carlito"/>
              <a:cs typeface="Carlito"/>
            </a:endParaRPr>
          </a:p>
          <a:p>
            <a:pPr marL="424180" indent="-41148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423545" algn="l"/>
                <a:tab pos="424180" algn="l"/>
              </a:tabLst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PM = 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Perímetro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molhado</a:t>
            </a:r>
            <a:r>
              <a:rPr sz="24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(m).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04800"/>
            <a:ext cx="8305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u="none" dirty="0"/>
              <a:t>O </a:t>
            </a:r>
            <a:r>
              <a:rPr sz="2800" b="1" u="none" spc="-20" dirty="0">
                <a:solidFill>
                  <a:srgbClr val="FFFF00"/>
                </a:solidFill>
                <a:latin typeface="Carlito"/>
                <a:cs typeface="Carlito"/>
              </a:rPr>
              <a:t>Perímetro </a:t>
            </a:r>
            <a:r>
              <a:rPr sz="2800" b="1" u="none" spc="-10" dirty="0">
                <a:solidFill>
                  <a:srgbClr val="FFFF00"/>
                </a:solidFill>
                <a:latin typeface="Carlito"/>
                <a:cs typeface="Carlito"/>
              </a:rPr>
              <a:t>Molhado </a:t>
            </a:r>
            <a:r>
              <a:rPr sz="2000" u="none" dirty="0"/>
              <a:t>, </a:t>
            </a:r>
            <a:r>
              <a:rPr sz="2000" u="none" spc="-5" dirty="0"/>
              <a:t>por sua </a:t>
            </a:r>
            <a:r>
              <a:rPr sz="2000" u="none" spc="-20" dirty="0"/>
              <a:t>vez </a:t>
            </a:r>
            <a:r>
              <a:rPr sz="2000" u="none" dirty="0"/>
              <a:t>é </a:t>
            </a:r>
            <a:r>
              <a:rPr sz="2000" u="none" spc="-5" dirty="0"/>
              <a:t>obtido pela</a:t>
            </a:r>
            <a:r>
              <a:rPr sz="2000" u="none" spc="130" dirty="0"/>
              <a:t> </a:t>
            </a:r>
            <a:r>
              <a:rPr sz="2000" u="none" spc="-10" dirty="0"/>
              <a:t>fórmula: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95266" y="1483994"/>
            <a:ext cx="1106170" cy="379095"/>
          </a:xfrm>
          <a:custGeom>
            <a:avLst/>
            <a:gdLst/>
            <a:ahLst/>
            <a:cxnLst/>
            <a:rect l="l" t="t" r="r" b="b"/>
            <a:pathLst>
              <a:path w="1106170" h="379094">
                <a:moveTo>
                  <a:pt x="1105789" y="0"/>
                </a:moveTo>
                <a:lnTo>
                  <a:pt x="221869" y="0"/>
                </a:lnTo>
                <a:lnTo>
                  <a:pt x="221869" y="507"/>
                </a:lnTo>
                <a:lnTo>
                  <a:pt x="190754" y="507"/>
                </a:lnTo>
                <a:lnTo>
                  <a:pt x="100330" y="339089"/>
                </a:lnTo>
                <a:lnTo>
                  <a:pt x="48895" y="224281"/>
                </a:lnTo>
                <a:lnTo>
                  <a:pt x="0" y="246506"/>
                </a:lnTo>
                <a:lnTo>
                  <a:pt x="4699" y="257682"/>
                </a:lnTo>
                <a:lnTo>
                  <a:pt x="29845" y="246506"/>
                </a:lnTo>
                <a:lnTo>
                  <a:pt x="91440" y="378967"/>
                </a:lnTo>
                <a:lnTo>
                  <a:pt x="105918" y="378967"/>
                </a:lnTo>
                <a:lnTo>
                  <a:pt x="202565" y="20319"/>
                </a:lnTo>
                <a:lnTo>
                  <a:pt x="232410" y="20319"/>
                </a:lnTo>
                <a:lnTo>
                  <a:pt x="232410" y="19812"/>
                </a:lnTo>
                <a:lnTo>
                  <a:pt x="1105789" y="19812"/>
                </a:lnTo>
                <a:lnTo>
                  <a:pt x="11057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27757" y="1268742"/>
            <a:ext cx="3168650" cy="608499"/>
          </a:xfrm>
          <a:prstGeom prst="rect">
            <a:avLst/>
          </a:prstGeom>
          <a:solidFill>
            <a:srgbClr val="1F487C"/>
          </a:solidFill>
          <a:ln w="25400">
            <a:solidFill>
              <a:srgbClr val="FFFF00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864"/>
              </a:spcBef>
              <a:tabLst>
                <a:tab pos="1889760" algn="l"/>
              </a:tabLst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PM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= b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2h</a:t>
            </a:r>
            <a:r>
              <a:rPr lang="pt-BR" sz="2400" b="1" dirty="0" smtClean="0">
                <a:solidFill>
                  <a:srgbClr val="FFFFFF"/>
                </a:solidFill>
                <a:latin typeface="Calibri"/>
                <a:cs typeface="Calibri"/>
              </a:rPr>
              <a:t>√</a:t>
            </a:r>
            <a:r>
              <a:rPr sz="2400" spc="235" dirty="0" smtClean="0">
                <a:solidFill>
                  <a:srgbClr val="FFFFFF"/>
                </a:solidFill>
                <a:latin typeface="Trebuchet MS"/>
                <a:cs typeface="Trebuchet MS"/>
              </a:rPr>
              <a:t>𝟏</a:t>
            </a:r>
            <a:r>
              <a:rPr sz="2400" spc="-204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530" dirty="0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sz="24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240" dirty="0">
                <a:solidFill>
                  <a:srgbClr val="FFFFFF"/>
                </a:solidFill>
                <a:latin typeface="Trebuchet MS"/>
                <a:cs typeface="Trebuchet MS"/>
              </a:rPr>
              <a:t>𝒁</a:t>
            </a:r>
            <a:r>
              <a:rPr sz="2625" spc="359" baseline="22222" dirty="0">
                <a:solidFill>
                  <a:srgbClr val="FFFFFF"/>
                </a:solidFill>
                <a:latin typeface="Trebuchet MS"/>
                <a:cs typeface="Trebuchet MS"/>
              </a:rPr>
              <a:t>𝟐</a:t>
            </a:r>
            <a:endParaRPr sz="2625" baseline="22222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327" y="1933143"/>
            <a:ext cx="87439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Em</a:t>
            </a:r>
            <a:r>
              <a:rPr sz="20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que: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39" y="2665222"/>
            <a:ext cx="4493261" cy="2514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PM =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Perímetro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molhado</a:t>
            </a:r>
            <a:r>
              <a:rPr sz="2000" b="1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(m);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"/>
              <a:buChar char="•"/>
            </a:pPr>
            <a:endParaRPr sz="2750" dirty="0">
              <a:latin typeface="Carlito"/>
              <a:cs typeface="Carlito"/>
            </a:endParaRPr>
          </a:p>
          <a:p>
            <a:pPr marL="412115" indent="-400050">
              <a:lnSpc>
                <a:spcPct val="100000"/>
              </a:lnSpc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b = Base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menor</a:t>
            </a:r>
            <a:r>
              <a:rPr sz="2000" b="1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(m);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2750" dirty="0">
              <a:latin typeface="Carlito"/>
              <a:cs typeface="Carlito"/>
            </a:endParaRPr>
          </a:p>
          <a:p>
            <a:pPr marL="412115" indent="-400050">
              <a:lnSpc>
                <a:spcPct val="100000"/>
              </a:lnSpc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h =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Altura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(m);</a:t>
            </a:r>
            <a:r>
              <a:rPr sz="2000" b="1" spc="-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Arial"/>
              <a:buChar char="•"/>
            </a:pPr>
            <a:endParaRPr sz="2750" dirty="0">
              <a:latin typeface="Carlito"/>
              <a:cs typeface="Carlito"/>
            </a:endParaRPr>
          </a:p>
          <a:p>
            <a:pPr marL="412115" indent="-400050">
              <a:lnSpc>
                <a:spcPct val="100000"/>
              </a:lnSpc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Z = </a:t>
            </a:r>
            <a:r>
              <a:rPr sz="2000" b="1" spc="-25" dirty="0">
                <a:solidFill>
                  <a:srgbClr val="FFFFFF"/>
                </a:solidFill>
                <a:latin typeface="Carlito"/>
                <a:cs typeface="Carlito"/>
              </a:rPr>
              <a:t>Talude,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sendo que</a:t>
            </a:r>
            <a:r>
              <a:rPr sz="2000" b="1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9017" y="5648756"/>
            <a:ext cx="140458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b="1" spc="-5" dirty="0" smtClean="0">
                <a:solidFill>
                  <a:srgbClr val="FFFFFF"/>
                </a:solidFill>
                <a:latin typeface="Carlito"/>
                <a:cs typeface="Carlito"/>
              </a:rPr>
              <a:t>Z=</a:t>
            </a:r>
            <a:r>
              <a:rPr lang="pt-BR" sz="2800" b="1" spc="-5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r>
              <a:rPr lang="pt-BR" sz="2800" b="1" spc="-5" dirty="0" smtClean="0">
                <a:solidFill>
                  <a:srgbClr val="FFFFFF"/>
                </a:solidFill>
                <a:latin typeface="Carlito"/>
                <a:cs typeface="Carlito"/>
              </a:rPr>
              <a:t>/h</a:t>
            </a:r>
            <a:endParaRPr sz="3075" baseline="-3794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8459" y="5519555"/>
            <a:ext cx="1722351" cy="805045"/>
          </a:xfrm>
          <a:custGeom>
            <a:avLst/>
            <a:gdLst/>
            <a:ahLst/>
            <a:cxnLst/>
            <a:rect l="l" t="t" r="r" b="b"/>
            <a:pathLst>
              <a:path w="1440179" h="925829">
                <a:moveTo>
                  <a:pt x="0" y="925563"/>
                </a:moveTo>
                <a:lnTo>
                  <a:pt x="1440179" y="925563"/>
                </a:lnTo>
                <a:lnTo>
                  <a:pt x="1440179" y="0"/>
                </a:lnTo>
                <a:lnTo>
                  <a:pt x="0" y="0"/>
                </a:lnTo>
                <a:lnTo>
                  <a:pt x="0" y="925563"/>
                </a:lnTo>
                <a:close/>
              </a:path>
            </a:pathLst>
          </a:custGeom>
          <a:ln w="254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9" name="Conector reto 8"/>
          <p:cNvCxnSpPr/>
          <p:nvPr/>
        </p:nvCxnSpPr>
        <p:spPr>
          <a:xfrm>
            <a:off x="4599977" y="1572991"/>
            <a:ext cx="947383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272" y="907237"/>
            <a:ext cx="7598728" cy="5096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FFFFFF"/>
                </a:solidFill>
                <a:latin typeface="Carlito"/>
                <a:cs typeface="Carlito"/>
              </a:rPr>
              <a:t>Então, </a:t>
            </a:r>
            <a:r>
              <a:rPr sz="3000" spc="-10" dirty="0">
                <a:solidFill>
                  <a:srgbClr val="FFFFFF"/>
                </a:solidFill>
                <a:latin typeface="Carlito"/>
                <a:cs typeface="Carlito"/>
              </a:rPr>
              <a:t>como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Y = </a:t>
            </a:r>
            <a:r>
              <a:rPr sz="3000" spc="-5" dirty="0">
                <a:solidFill>
                  <a:srgbClr val="FFFFFF"/>
                </a:solidFill>
                <a:latin typeface="Carlito"/>
                <a:cs typeface="Carlito"/>
              </a:rPr>
              <a:t>2h,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Z</a:t>
            </a:r>
            <a:r>
              <a:rPr sz="30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000" spc="-20" dirty="0" err="1">
                <a:solidFill>
                  <a:srgbClr val="FFFFFF"/>
                </a:solidFill>
                <a:latin typeface="Carlito"/>
                <a:cs typeface="Carlito"/>
              </a:rPr>
              <a:t>será</a:t>
            </a:r>
            <a:r>
              <a:rPr sz="3000" spc="-20" dirty="0" smtClean="0">
                <a:solidFill>
                  <a:srgbClr val="FFFFFF"/>
                </a:solidFill>
                <a:latin typeface="Carlito"/>
                <a:cs typeface="Carlito"/>
              </a:rPr>
              <a:t>:</a:t>
            </a:r>
            <a:endParaRPr lang="pt-BR" sz="3000" spc="-20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000" spc="-40" dirty="0">
                <a:solidFill>
                  <a:srgbClr val="FFFFFF"/>
                </a:solidFill>
                <a:latin typeface="Carlito"/>
                <a:cs typeface="Carlito"/>
              </a:rPr>
              <a:t>Z=Y/h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= 2h/h = </a:t>
            </a:r>
            <a:r>
              <a:rPr sz="3000" spc="-5" dirty="0">
                <a:solidFill>
                  <a:srgbClr val="FFFFFF"/>
                </a:solidFill>
                <a:latin typeface="Carlito"/>
                <a:cs typeface="Carlito"/>
              </a:rPr>
              <a:t>2x0,25/0,25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= 2,</a:t>
            </a:r>
            <a:r>
              <a:rPr sz="3000" spc="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Carlito"/>
                <a:cs typeface="Carlito"/>
              </a:rPr>
              <a:t>logo</a:t>
            </a:r>
            <a:r>
              <a:rPr sz="3000" spc="-15" dirty="0" smtClean="0">
                <a:solidFill>
                  <a:srgbClr val="FFFFFF"/>
                </a:solidFill>
                <a:latin typeface="Carlito"/>
                <a:cs typeface="Carlito"/>
              </a:rPr>
              <a:t>,</a:t>
            </a:r>
            <a:endParaRPr lang="pt-BR" sz="3000" spc="-15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endParaRPr sz="3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000" u="heavy" spc="-7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spc="-19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PM </a:t>
            </a:r>
            <a:r>
              <a:rPr sz="3000" u="heavy" spc="-26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= </a:t>
            </a:r>
            <a:r>
              <a:rPr sz="3000" u="heavy" spc="-9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b </a:t>
            </a:r>
            <a:r>
              <a:rPr sz="3000" u="heavy" spc="-26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+ </a:t>
            </a:r>
            <a:r>
              <a:rPr sz="3000" u="heavy" spc="-1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2h√5</a:t>
            </a:r>
            <a:r>
              <a:rPr sz="3000" spc="-110" dirty="0">
                <a:solidFill>
                  <a:srgbClr val="FFFFFF"/>
                </a:solidFill>
                <a:latin typeface="Carlito"/>
                <a:cs typeface="Carlito"/>
              </a:rPr>
              <a:t>,</a:t>
            </a:r>
            <a:r>
              <a:rPr sz="3000" spc="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000" spc="-15" dirty="0">
                <a:solidFill>
                  <a:srgbClr val="FFFFFF"/>
                </a:solidFill>
                <a:latin typeface="Carlito"/>
                <a:cs typeface="Carlito"/>
              </a:rPr>
              <a:t>então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9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PM1 = 0,14 +2 x 0,25 </a:t>
            </a:r>
            <a:r>
              <a:rPr sz="3000" spc="-75" dirty="0">
                <a:solidFill>
                  <a:srgbClr val="FFFFFF"/>
                </a:solidFill>
                <a:latin typeface="Arial"/>
                <a:cs typeface="Arial"/>
              </a:rPr>
              <a:t>√</a:t>
            </a:r>
            <a:r>
              <a:rPr sz="3000" spc="-75" dirty="0">
                <a:solidFill>
                  <a:srgbClr val="FFFFFF"/>
                </a:solidFill>
                <a:latin typeface="Carlito"/>
                <a:cs typeface="Carlito"/>
              </a:rPr>
              <a:t>5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3000" spc="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000" dirty="0">
                <a:solidFill>
                  <a:srgbClr val="FFFF00"/>
                </a:solidFill>
                <a:latin typeface="Carlito"/>
                <a:cs typeface="Carlito"/>
              </a:rPr>
              <a:t>PM1=1,26</a:t>
            </a:r>
            <a:endParaRPr sz="3000" dirty="0">
              <a:latin typeface="Carlito"/>
              <a:cs typeface="Carlito"/>
            </a:endParaRPr>
          </a:p>
          <a:p>
            <a:pPr marL="12700" marR="5080">
              <a:lnSpc>
                <a:spcPct val="200000"/>
              </a:lnSpc>
              <a:spcBef>
                <a:spcPts val="5"/>
              </a:spcBef>
            </a:pP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PM2 = 0,78 + 2 x 0,25 </a:t>
            </a:r>
            <a:r>
              <a:rPr sz="3000" spc="-75" dirty="0">
                <a:solidFill>
                  <a:srgbClr val="FFFFFF"/>
                </a:solidFill>
                <a:latin typeface="Arial"/>
                <a:cs typeface="Arial"/>
              </a:rPr>
              <a:t>√</a:t>
            </a:r>
            <a:r>
              <a:rPr sz="3000" spc="-75" dirty="0">
                <a:solidFill>
                  <a:srgbClr val="FFFFFF"/>
                </a:solidFill>
                <a:latin typeface="Carlito"/>
                <a:cs typeface="Carlito"/>
              </a:rPr>
              <a:t>5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3000" dirty="0">
                <a:solidFill>
                  <a:srgbClr val="FFFF00"/>
                </a:solidFill>
                <a:latin typeface="Carlito"/>
                <a:cs typeface="Carlito"/>
              </a:rPr>
              <a:t>PM2 = 1,90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,  </a:t>
            </a:r>
            <a:r>
              <a:rPr sz="3000" spc="-15" dirty="0">
                <a:solidFill>
                  <a:srgbClr val="FFFFFF"/>
                </a:solidFill>
                <a:latin typeface="Carlito"/>
                <a:cs typeface="Carlito"/>
              </a:rPr>
              <a:t>Então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PM14= 8,46 + </a:t>
            </a:r>
            <a:r>
              <a:rPr sz="3000" spc="-5" dirty="0">
                <a:solidFill>
                  <a:srgbClr val="FFFFFF"/>
                </a:solidFill>
                <a:latin typeface="Carlito"/>
                <a:cs typeface="Carlito"/>
              </a:rPr>
              <a:t>0,25 </a:t>
            </a:r>
            <a:r>
              <a:rPr sz="3000" spc="-75" dirty="0">
                <a:solidFill>
                  <a:srgbClr val="FFFFFF"/>
                </a:solidFill>
                <a:latin typeface="Arial"/>
                <a:cs typeface="Arial"/>
              </a:rPr>
              <a:t>√</a:t>
            </a:r>
            <a:r>
              <a:rPr sz="3000" spc="-75" dirty="0">
                <a:solidFill>
                  <a:srgbClr val="FFFFFF"/>
                </a:solidFill>
                <a:latin typeface="Carlito"/>
                <a:cs typeface="Carlito"/>
              </a:rPr>
              <a:t>5 </a:t>
            </a:r>
            <a:r>
              <a:rPr sz="3000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3000" dirty="0">
                <a:solidFill>
                  <a:srgbClr val="FFFF00"/>
                </a:solidFill>
                <a:latin typeface="Carlito"/>
                <a:cs typeface="Carlito"/>
              </a:rPr>
              <a:t>PM14 =</a:t>
            </a:r>
            <a:r>
              <a:rPr sz="3000" spc="3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3000" dirty="0">
                <a:solidFill>
                  <a:srgbClr val="FFFF00"/>
                </a:solidFill>
                <a:latin typeface="Carlito"/>
                <a:cs typeface="Carlito"/>
              </a:rPr>
              <a:t>9,58</a:t>
            </a:r>
            <a:endParaRPr sz="30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074" y="198881"/>
            <a:ext cx="6992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5" dirty="0"/>
              <a:t>Os </a:t>
            </a:r>
            <a:r>
              <a:rPr sz="2800" b="1" u="none" spc="-5" dirty="0">
                <a:solidFill>
                  <a:srgbClr val="FFFF00"/>
                </a:solidFill>
                <a:latin typeface="Carlito"/>
                <a:cs typeface="Carlito"/>
              </a:rPr>
              <a:t>Raios </a:t>
            </a:r>
            <a:r>
              <a:rPr sz="2800" b="1" u="none" spc="-15" dirty="0">
                <a:solidFill>
                  <a:srgbClr val="FFFF00"/>
                </a:solidFill>
                <a:latin typeface="Carlito"/>
                <a:cs typeface="Carlito"/>
              </a:rPr>
              <a:t>Hidráulicos</a:t>
            </a:r>
            <a:r>
              <a:rPr sz="2800" b="1" u="none" spc="1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800" u="none" spc="-15" dirty="0"/>
              <a:t>serão: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0522" y="1262887"/>
            <a:ext cx="20955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350" spc="745" dirty="0">
                <a:solidFill>
                  <a:srgbClr val="FFFFFF"/>
                </a:solidFill>
                <a:latin typeface="Trebuchet MS"/>
                <a:cs typeface="Trebuchet MS"/>
              </a:rPr>
              <a:t>𝑨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8012" y="1125922"/>
            <a:ext cx="1699388" cy="8188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800" b="1" dirty="0" smtClean="0">
                <a:solidFill>
                  <a:srgbClr val="FFFFFF"/>
                </a:solidFill>
                <a:latin typeface="Carlito"/>
                <a:cs typeface="Carlito"/>
              </a:rPr>
              <a:t>R </a:t>
            </a:r>
            <a:r>
              <a:rPr sz="2800" b="1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800" b="1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lang="pt-BR" sz="2800" b="1" spc="-80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lang="pt-BR" sz="3200" b="1" spc="-80" baseline="-37825" dirty="0" smtClean="0">
                <a:solidFill>
                  <a:srgbClr val="FFFFFF"/>
                </a:solidFill>
                <a:latin typeface="Carlito"/>
                <a:cs typeface="Trebuchet MS"/>
              </a:rPr>
              <a:t>           </a:t>
            </a:r>
            <a:r>
              <a:rPr sz="3525" spc="1042" baseline="-37825" dirty="0" smtClean="0">
                <a:solidFill>
                  <a:srgbClr val="FFFFFF"/>
                </a:solidFill>
                <a:latin typeface="Trebuchet MS"/>
                <a:cs typeface="Trebuchet MS"/>
              </a:rPr>
              <a:t>𝑷𝑴</a:t>
            </a:r>
            <a:endParaRPr sz="3525" baseline="-37825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20642" y="3986403"/>
            <a:ext cx="547370" cy="22860"/>
          </a:xfrm>
          <a:custGeom>
            <a:avLst/>
            <a:gdLst/>
            <a:ahLst/>
            <a:cxnLst/>
            <a:rect l="l" t="t" r="r" b="b"/>
            <a:pathLst>
              <a:path w="547370" h="22860">
                <a:moveTo>
                  <a:pt x="547115" y="0"/>
                </a:moveTo>
                <a:lnTo>
                  <a:pt x="0" y="0"/>
                </a:lnTo>
                <a:lnTo>
                  <a:pt x="0" y="22860"/>
                </a:lnTo>
                <a:lnTo>
                  <a:pt x="547115" y="22860"/>
                </a:lnTo>
                <a:lnTo>
                  <a:pt x="5471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60566" y="3986403"/>
            <a:ext cx="570230" cy="22860"/>
          </a:xfrm>
          <a:custGeom>
            <a:avLst/>
            <a:gdLst/>
            <a:ahLst/>
            <a:cxnLst/>
            <a:rect l="l" t="t" r="r" b="b"/>
            <a:pathLst>
              <a:path w="570229" h="22860">
                <a:moveTo>
                  <a:pt x="569976" y="0"/>
                </a:moveTo>
                <a:lnTo>
                  <a:pt x="0" y="0"/>
                </a:lnTo>
                <a:lnTo>
                  <a:pt x="0" y="22860"/>
                </a:lnTo>
                <a:lnTo>
                  <a:pt x="569976" y="22860"/>
                </a:lnTo>
                <a:lnTo>
                  <a:pt x="5699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168012" y="981100"/>
            <a:ext cx="1800225" cy="1443942"/>
            <a:chOff x="4211954" y="1268742"/>
            <a:chExt cx="1800225" cy="1008380"/>
          </a:xfrm>
        </p:grpSpPr>
        <p:sp>
          <p:nvSpPr>
            <p:cNvPr id="8" name="object 8"/>
            <p:cNvSpPr/>
            <p:nvPr/>
          </p:nvSpPr>
          <p:spPr>
            <a:xfrm>
              <a:off x="5061648" y="1706454"/>
              <a:ext cx="474345" cy="26034"/>
            </a:xfrm>
            <a:custGeom>
              <a:avLst/>
              <a:gdLst/>
              <a:ahLst/>
              <a:cxnLst/>
              <a:rect l="l" t="t" r="r" b="b"/>
              <a:pathLst>
                <a:path w="474345" h="26035">
                  <a:moveTo>
                    <a:pt x="473963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473963" y="25908"/>
                  </a:lnTo>
                  <a:lnTo>
                    <a:pt x="4739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11954" y="1268742"/>
              <a:ext cx="1800225" cy="1008380"/>
            </a:xfrm>
            <a:custGeom>
              <a:avLst/>
              <a:gdLst/>
              <a:ahLst/>
              <a:cxnLst/>
              <a:rect l="l" t="t" r="r" b="b"/>
              <a:pathLst>
                <a:path w="1800225" h="1008380">
                  <a:moveTo>
                    <a:pt x="0" y="1008113"/>
                  </a:moveTo>
                  <a:lnTo>
                    <a:pt x="1800225" y="1008113"/>
                  </a:lnTo>
                  <a:lnTo>
                    <a:pt x="1800225" y="0"/>
                  </a:lnTo>
                  <a:lnTo>
                    <a:pt x="0" y="0"/>
                  </a:lnTo>
                  <a:lnTo>
                    <a:pt x="0" y="1008113"/>
                  </a:lnTo>
                  <a:close/>
                </a:path>
              </a:pathLst>
            </a:custGeom>
            <a:ln w="254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400" y="2425042"/>
            <a:ext cx="8915400" cy="41794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E assim 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até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o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ultimo 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terraço,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em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que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se</a:t>
            </a:r>
            <a:r>
              <a:rPr sz="2800" spc="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teria:</a:t>
            </a:r>
            <a:endParaRPr sz="2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50" dirty="0">
              <a:latin typeface="Carlito"/>
              <a:cs typeface="Carlito"/>
            </a:endParaRPr>
          </a:p>
          <a:p>
            <a:pPr marL="3200400">
              <a:lnSpc>
                <a:spcPts val="1675"/>
              </a:lnSpc>
              <a:spcBef>
                <a:spcPts val="5"/>
              </a:spcBef>
              <a:tabLst>
                <a:tab pos="5640070" algn="l"/>
              </a:tabLst>
            </a:pPr>
            <a:r>
              <a:rPr sz="2050" spc="215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endParaRPr sz="2050" dirty="0">
              <a:latin typeface="Trebuchet MS"/>
              <a:cs typeface="Trebuchet MS"/>
            </a:endParaRPr>
          </a:p>
          <a:p>
            <a:pPr marL="465455" algn="ctr">
              <a:lnSpc>
                <a:spcPts val="2575"/>
              </a:lnSpc>
              <a:tabLst>
                <a:tab pos="2131695" algn="l"/>
                <a:tab pos="2898775" algn="l"/>
              </a:tabLst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R1</a:t>
            </a:r>
            <a:r>
              <a:rPr sz="28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5" dirty="0" smtClean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lang="pt-BR" sz="2800" spc="-5" dirty="0" smtClean="0">
                <a:solidFill>
                  <a:srgbClr val="FFFFFF"/>
                </a:solidFill>
                <a:latin typeface="Carlito"/>
                <a:cs typeface="Carlito"/>
              </a:rPr>
              <a:t> A1/PM1</a:t>
            </a:r>
            <a:r>
              <a:rPr sz="2800" spc="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3075" spc="577" baseline="-37940" dirty="0" smtClean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800" spc="-5" dirty="0" smtClean="0">
                <a:solidFill>
                  <a:srgbClr val="FFFFFF"/>
                </a:solidFill>
                <a:latin typeface="Carlito"/>
                <a:cs typeface="Carlito"/>
              </a:rPr>
              <a:t>....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	</a:t>
            </a:r>
            <a:r>
              <a:rPr sz="2800" dirty="0" err="1" smtClean="0">
                <a:solidFill>
                  <a:srgbClr val="FFFFFF"/>
                </a:solidFill>
                <a:latin typeface="Carlito"/>
                <a:cs typeface="Carlito"/>
              </a:rPr>
              <a:t>Rn</a:t>
            </a:r>
            <a:r>
              <a:rPr lang="pt-BR" sz="2800" dirty="0" smtClean="0">
                <a:solidFill>
                  <a:srgbClr val="FFFFFF"/>
                </a:solidFill>
                <a:latin typeface="Carlito"/>
                <a:cs typeface="Carlito"/>
              </a:rPr>
              <a:t> = Na/</a:t>
            </a:r>
            <a:r>
              <a:rPr lang="pt-BR" sz="2800" dirty="0" err="1" smtClean="0">
                <a:solidFill>
                  <a:srgbClr val="FFFFFF"/>
                </a:solidFill>
                <a:latin typeface="Carlito"/>
                <a:cs typeface="Carlito"/>
              </a:rPr>
              <a:t>PMn</a:t>
            </a:r>
            <a:endParaRPr sz="3075" baseline="-37940" dirty="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1355"/>
              </a:spcBef>
            </a:pPr>
            <a:r>
              <a:rPr sz="2800" spc="-15" dirty="0">
                <a:solidFill>
                  <a:srgbClr val="FFFFFF"/>
                </a:solidFill>
                <a:latin typeface="Carlito"/>
                <a:cs typeface="Carlito"/>
              </a:rPr>
              <a:t>Então:</a:t>
            </a:r>
            <a:endParaRPr sz="2800" dirty="0">
              <a:latin typeface="Carlito"/>
              <a:cs typeface="Carlito"/>
            </a:endParaRPr>
          </a:p>
          <a:p>
            <a:pPr marL="25400" marR="3329304">
              <a:lnSpc>
                <a:spcPct val="120000"/>
              </a:lnSpc>
            </a:pP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R1=A1/PM1 = 0,16/1,26 = 0,127  R2=A2/PM2 = 0,78/1,90 =</a:t>
            </a:r>
            <a:r>
              <a:rPr sz="28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800" spc="-5" dirty="0" smtClean="0">
                <a:solidFill>
                  <a:srgbClr val="FFFFFF"/>
                </a:solidFill>
                <a:latin typeface="Carlito"/>
                <a:cs typeface="Carlito"/>
              </a:rPr>
              <a:t>0,168</a:t>
            </a:r>
            <a:endParaRPr lang="pt-BR" sz="2800" spc="-5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25400" marR="3329304">
              <a:lnSpc>
                <a:spcPct val="120000"/>
              </a:lnSpc>
            </a:pPr>
            <a:endParaRPr sz="2800" dirty="0">
              <a:latin typeface="Carlito"/>
              <a:cs typeface="Carlito"/>
            </a:endParaRPr>
          </a:p>
          <a:p>
            <a:pPr marL="25400">
              <a:lnSpc>
                <a:spcPct val="100000"/>
              </a:lnSpc>
              <a:spcBef>
                <a:spcPts val="565"/>
              </a:spcBef>
              <a:tabLst>
                <a:tab pos="6631940" algn="l"/>
              </a:tabLst>
            </a:pPr>
            <a:r>
              <a:rPr sz="2200" b="1" spc="-5" dirty="0">
                <a:solidFill>
                  <a:srgbClr val="FFFF00"/>
                </a:solidFill>
                <a:latin typeface="Carlito"/>
                <a:cs typeface="Carlito"/>
              </a:rPr>
              <a:t>E assim </a:t>
            </a:r>
            <a:r>
              <a:rPr sz="2200" b="1" spc="-25" dirty="0">
                <a:solidFill>
                  <a:srgbClr val="FFFF00"/>
                </a:solidFill>
                <a:latin typeface="Carlito"/>
                <a:cs typeface="Carlito"/>
              </a:rPr>
              <a:t>até </a:t>
            </a:r>
            <a:r>
              <a:rPr sz="2200" b="1" spc="-5" dirty="0">
                <a:solidFill>
                  <a:srgbClr val="FFFF00"/>
                </a:solidFill>
                <a:latin typeface="Carlito"/>
                <a:cs typeface="Carlito"/>
              </a:rPr>
              <a:t>o 14º </a:t>
            </a:r>
            <a:r>
              <a:rPr sz="2200" b="1" spc="-20" dirty="0">
                <a:solidFill>
                  <a:srgbClr val="FFFF00"/>
                </a:solidFill>
                <a:latin typeface="Carlito"/>
                <a:cs typeface="Carlito"/>
              </a:rPr>
              <a:t>terraço </a:t>
            </a:r>
            <a:r>
              <a:rPr sz="2200" b="1" spc="-5" dirty="0">
                <a:solidFill>
                  <a:srgbClr val="FFFF00"/>
                </a:solidFill>
                <a:latin typeface="Carlito"/>
                <a:cs typeface="Carlito"/>
              </a:rPr>
              <a:t>= R14=A14/PM14=</a:t>
            </a:r>
            <a:r>
              <a:rPr sz="2200" b="1" spc="26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200" b="1" spc="-5" dirty="0">
                <a:solidFill>
                  <a:srgbClr val="FFFF00"/>
                </a:solidFill>
                <a:latin typeface="Carlito"/>
                <a:cs typeface="Carlito"/>
              </a:rPr>
              <a:t>2,24/9,58 =	R14 =</a:t>
            </a:r>
            <a:r>
              <a:rPr sz="2200" b="1" spc="-6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200" b="1" spc="-5" dirty="0">
                <a:solidFill>
                  <a:srgbClr val="FFFF00"/>
                </a:solidFill>
                <a:latin typeface="Carlito"/>
                <a:cs typeface="Carlito"/>
              </a:rPr>
              <a:t>0,234</a:t>
            </a:r>
            <a:endParaRPr sz="22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414909"/>
            <a:ext cx="84410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Admitindo-se que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o canal 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será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de 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terra,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com fundo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e  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lateral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com </a:t>
            </a:r>
            <a:r>
              <a:rPr sz="2800" spc="-20" dirty="0">
                <a:solidFill>
                  <a:srgbClr val="FFFFFF"/>
                </a:solidFill>
                <a:latin typeface="Carlito"/>
                <a:cs typeface="Carlito"/>
              </a:rPr>
              <a:t>vegetação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densa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,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consulta-se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o </a:t>
            </a:r>
            <a:r>
              <a:rPr sz="2800" spc="-10" dirty="0">
                <a:solidFill>
                  <a:srgbClr val="FFFFFF"/>
                </a:solidFill>
                <a:latin typeface="Carlito"/>
                <a:cs typeface="Carlito"/>
              </a:rPr>
              <a:t>Quadro  </a:t>
            </a:r>
            <a:r>
              <a:rPr sz="2800" spc="-5" dirty="0">
                <a:solidFill>
                  <a:srgbClr val="FFFFFF"/>
                </a:solidFill>
                <a:latin typeface="Carlito"/>
                <a:cs typeface="Carlito"/>
              </a:rPr>
              <a:t>17, </a:t>
            </a:r>
            <a:r>
              <a:rPr sz="2800" spc="-25" dirty="0">
                <a:solidFill>
                  <a:srgbClr val="FFFFFF"/>
                </a:solidFill>
                <a:latin typeface="Carlito"/>
                <a:cs typeface="Carlito"/>
              </a:rPr>
              <a:t>para </a:t>
            </a:r>
            <a:r>
              <a:rPr sz="2800" spc="-15" dirty="0">
                <a:solidFill>
                  <a:srgbClr val="FFFF00"/>
                </a:solidFill>
                <a:latin typeface="Carlito"/>
                <a:cs typeface="Carlito"/>
              </a:rPr>
              <a:t>Coeficiente </a:t>
            </a:r>
            <a:r>
              <a:rPr sz="2800" spc="-5" dirty="0">
                <a:solidFill>
                  <a:srgbClr val="FFFF00"/>
                </a:solidFill>
                <a:latin typeface="Carlito"/>
                <a:cs typeface="Carlito"/>
              </a:rPr>
              <a:t>de </a:t>
            </a:r>
            <a:r>
              <a:rPr sz="2800" spc="-10" dirty="0">
                <a:solidFill>
                  <a:srgbClr val="FFFF00"/>
                </a:solidFill>
                <a:latin typeface="Carlito"/>
                <a:cs typeface="Carlito"/>
              </a:rPr>
              <a:t>rugosidade</a:t>
            </a:r>
            <a:r>
              <a:rPr sz="2800" spc="10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FFFF00"/>
                </a:solidFill>
                <a:latin typeface="Carlito"/>
                <a:cs typeface="Carlito"/>
              </a:rPr>
              <a:t>(n)</a:t>
            </a:r>
            <a:endParaRPr sz="2800" dirty="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87627" y="2348826"/>
            <a:ext cx="7041973" cy="4356774"/>
            <a:chOff x="1187627" y="2348826"/>
            <a:chExt cx="6193155" cy="3744595"/>
          </a:xfrm>
        </p:grpSpPr>
        <p:sp>
          <p:nvSpPr>
            <p:cNvPr id="4" name="object 4"/>
            <p:cNvSpPr/>
            <p:nvPr/>
          </p:nvSpPr>
          <p:spPr>
            <a:xfrm>
              <a:off x="1187627" y="2348826"/>
              <a:ext cx="6192647" cy="37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0171" y="5373217"/>
              <a:ext cx="648335" cy="216535"/>
            </a:xfrm>
            <a:custGeom>
              <a:avLst/>
              <a:gdLst/>
              <a:ahLst/>
              <a:cxnLst/>
              <a:rect l="l" t="t" r="r" b="b"/>
              <a:pathLst>
                <a:path w="648334" h="216535">
                  <a:moveTo>
                    <a:pt x="0" y="216027"/>
                  </a:moveTo>
                  <a:lnTo>
                    <a:pt x="648068" y="216027"/>
                  </a:lnTo>
                  <a:lnTo>
                    <a:pt x="648068" y="0"/>
                  </a:lnTo>
                  <a:lnTo>
                    <a:pt x="0" y="0"/>
                  </a:lnTo>
                  <a:lnTo>
                    <a:pt x="0" y="216027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228600"/>
            <a:ext cx="8610600" cy="57522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Considerando:</a:t>
            </a:r>
            <a:endParaRPr sz="25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n=0,100</a:t>
            </a:r>
            <a:endParaRPr sz="25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I=6% = 0,06m.m-1, </a:t>
            </a:r>
            <a:r>
              <a:rPr sz="2500" spc="-15" dirty="0">
                <a:solidFill>
                  <a:srgbClr val="FFFFFF"/>
                </a:solidFill>
                <a:latin typeface="Carlito"/>
                <a:cs typeface="Carlito"/>
              </a:rPr>
              <a:t>então 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I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½ 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500" spc="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0,2449,</a:t>
            </a:r>
            <a:endParaRPr sz="25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1914525">
              <a:lnSpc>
                <a:spcPct val="100000"/>
              </a:lnSpc>
              <a:tabLst>
                <a:tab pos="4577080" algn="l"/>
              </a:tabLst>
            </a:pP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500" spc="-15" dirty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li</a:t>
            </a:r>
            <a:r>
              <a:rPr sz="2500" spc="-25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ando</a:t>
            </a:r>
            <a:r>
              <a:rPr sz="2500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500" spc="-35" dirty="0">
                <a:solidFill>
                  <a:srgbClr val="FFFFFF"/>
                </a:solidFill>
                <a:latin typeface="Carlito"/>
                <a:cs typeface="Carlito"/>
              </a:rPr>
              <a:t>F</a:t>
            </a: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sz="250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mula </a:t>
            </a: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2500" spc="-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2500" spc="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500" spc="-5" dirty="0" smtClean="0">
                <a:solidFill>
                  <a:srgbClr val="FFFFFF"/>
                </a:solidFill>
                <a:latin typeface="Carlito"/>
                <a:cs typeface="Carlito"/>
              </a:rPr>
              <a:t>M</a:t>
            </a:r>
            <a:r>
              <a:rPr sz="2500" dirty="0" smtClean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500" spc="-10" dirty="0" smtClean="0">
                <a:solidFill>
                  <a:srgbClr val="FFFFFF"/>
                </a:solidFill>
                <a:latin typeface="Carlito"/>
                <a:cs typeface="Carlito"/>
              </a:rPr>
              <a:t>nnin</a:t>
            </a:r>
            <a:r>
              <a:rPr sz="2500" spc="-5" dirty="0" smtClean="0">
                <a:solidFill>
                  <a:srgbClr val="FFFFFF"/>
                </a:solidFill>
                <a:latin typeface="Carlito"/>
                <a:cs typeface="Carlito"/>
              </a:rPr>
              <a:t>g</a:t>
            </a:r>
            <a:r>
              <a:rPr lang="pt-BR" sz="2500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500" spc="-30" dirty="0" err="1" smtClean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2500" spc="-5" dirty="0" err="1" smtClean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2500" spc="-30" dirty="0" err="1" smtClean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2500" spc="-5" dirty="0" err="1" smtClean="0">
                <a:solidFill>
                  <a:srgbClr val="FFFFFF"/>
                </a:solidFill>
                <a:latin typeface="Carlito"/>
                <a:cs typeface="Carlito"/>
              </a:rPr>
              <a:t>em</a:t>
            </a:r>
            <a:r>
              <a:rPr sz="2500" dirty="0" err="1" smtClean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sz="2500" spc="-10" dirty="0" err="1" smtClean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r>
              <a:rPr sz="2500" spc="-10" dirty="0">
                <a:solidFill>
                  <a:srgbClr val="FFFFFF"/>
                </a:solidFill>
                <a:latin typeface="Carlito"/>
                <a:cs typeface="Carlito"/>
              </a:rPr>
              <a:t>:  </a:t>
            </a:r>
            <a:endParaRPr lang="pt-BR" sz="2500" spc="-10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 marR="1914525">
              <a:lnSpc>
                <a:spcPct val="100000"/>
              </a:lnSpc>
              <a:tabLst>
                <a:tab pos="4577080" algn="l"/>
              </a:tabLst>
            </a:pPr>
            <a:endParaRPr lang="pt-BR" sz="2500" spc="-10" dirty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 marR="1914525">
              <a:lnSpc>
                <a:spcPct val="100000"/>
              </a:lnSpc>
              <a:tabLst>
                <a:tab pos="4577080" algn="l"/>
              </a:tabLst>
            </a:pPr>
            <a:r>
              <a:rPr sz="2500" spc="-15" dirty="0" err="1" smtClean="0">
                <a:solidFill>
                  <a:srgbClr val="FFFF00"/>
                </a:solidFill>
                <a:latin typeface="Carlito"/>
                <a:cs typeface="Carlito"/>
              </a:rPr>
              <a:t>Velocidade</a:t>
            </a:r>
            <a:r>
              <a:rPr sz="2500" spc="-15" dirty="0" smtClean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média do 1o.</a:t>
            </a:r>
            <a:r>
              <a:rPr sz="2500" spc="-1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500" spc="-40" dirty="0">
                <a:solidFill>
                  <a:srgbClr val="FFFF00"/>
                </a:solidFill>
                <a:latin typeface="Carlito"/>
                <a:cs typeface="Carlito"/>
              </a:rPr>
              <a:t>Terraço:</a:t>
            </a:r>
            <a:endParaRPr sz="25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4063365">
              <a:lnSpc>
                <a:spcPct val="100000"/>
              </a:lnSpc>
            </a:pP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V1=(0,127 2/3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x 0,06 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½)/0,1  V1=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0,62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500" dirty="0">
                <a:solidFill>
                  <a:srgbClr val="FFFF00"/>
                </a:solidFill>
                <a:latin typeface="Carlito"/>
                <a:cs typeface="Carlito"/>
              </a:rPr>
              <a:t>m.s-1,</a:t>
            </a:r>
            <a:endParaRPr sz="25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Se 0,62 m.s-1 é menor 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que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a velocidade 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máxima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permitida,  ou 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seja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0,62&lt;1,35 </a:t>
            </a:r>
            <a:r>
              <a:rPr sz="2500" dirty="0">
                <a:solidFill>
                  <a:srgbClr val="FFFF00"/>
                </a:solidFill>
                <a:latin typeface="Carlito"/>
                <a:cs typeface="Carlito"/>
              </a:rPr>
              <a:t>m.s-1, </a:t>
            </a:r>
            <a:r>
              <a:rPr sz="2500" spc="-20" dirty="0">
                <a:solidFill>
                  <a:srgbClr val="FFFF00"/>
                </a:solidFill>
                <a:latin typeface="Carlito"/>
                <a:cs typeface="Carlito"/>
              </a:rPr>
              <a:t>está </a:t>
            </a:r>
            <a:r>
              <a:rPr sz="2500" spc="-15" dirty="0">
                <a:solidFill>
                  <a:srgbClr val="FFFF00"/>
                </a:solidFill>
                <a:latin typeface="Carlito"/>
                <a:cs typeface="Carlito"/>
              </a:rPr>
              <a:t>dentro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do limite permitido  </a:t>
            </a:r>
            <a:r>
              <a:rPr sz="2500" spc="-20" dirty="0">
                <a:solidFill>
                  <a:srgbClr val="FFFF00"/>
                </a:solidFill>
                <a:latin typeface="Carlito"/>
                <a:cs typeface="Carlito"/>
              </a:rPr>
              <a:t>para </a:t>
            </a:r>
            <a:r>
              <a:rPr sz="2500" spc="-5" dirty="0">
                <a:solidFill>
                  <a:srgbClr val="FFFF00"/>
                </a:solidFill>
                <a:latin typeface="Carlito"/>
                <a:cs typeface="Carlito"/>
              </a:rPr>
              <a:t>esse tipo de</a:t>
            </a:r>
            <a:r>
              <a:rPr sz="2500" spc="2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500" spc="-10" dirty="0">
                <a:solidFill>
                  <a:srgbClr val="FFFF00"/>
                </a:solidFill>
                <a:latin typeface="Carlito"/>
                <a:cs typeface="Carlito"/>
              </a:rPr>
              <a:t>canal</a:t>
            </a:r>
            <a:endParaRPr sz="2500" dirty="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6571" y="573151"/>
            <a:ext cx="53987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Cálculo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“V”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para os demais terraços:  </a:t>
            </a:r>
            <a:r>
              <a:rPr sz="24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Segundo</a:t>
            </a:r>
            <a:r>
              <a:rPr sz="2400" u="heavy" spc="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terraço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2105025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V2=(0,168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2/3	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0,06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½)/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V2=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0,75 m.s-1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571" y="3719321"/>
            <a:ext cx="5797550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assim sucessivamente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até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o </a:t>
            </a:r>
            <a:r>
              <a:rPr sz="2400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14º</a:t>
            </a:r>
            <a:r>
              <a:rPr sz="2400" u="heavy" spc="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terraço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marL="12700" marR="1221740">
              <a:lnSpc>
                <a:spcPct val="240099"/>
              </a:lnSpc>
              <a:tabLst>
                <a:tab pos="4389120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400" spc="-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4=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0,234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 2/3 x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0,06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½)/0,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=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V14=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0,93 m.s-1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6575"/>
            <a:ext cx="8686800" cy="654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492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5079</TotalTime>
  <Words>1021</Words>
  <Application>Microsoft Office PowerPoint</Application>
  <PresentationFormat>Apresentação na tela (4:3)</PresentationFormat>
  <Paragraphs>214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0" baseType="lpstr">
      <vt:lpstr>Office Theme</vt:lpstr>
      <vt:lpstr>Apresentação do PowerPoint</vt:lpstr>
      <vt:lpstr>Apresentação do PowerPoint</vt:lpstr>
      <vt:lpstr>CANAIS ESCOADOUROS</vt:lpstr>
      <vt:lpstr>Localização do Canal Escoadouro</vt:lpstr>
      <vt:lpstr>Apresentação do PowerPoint</vt:lpstr>
      <vt:lpstr>Características da vegetação de revestimento do  Canal Escoadouro</vt:lpstr>
      <vt:lpstr>Cálculo do Canal Escoadouro</vt:lpstr>
      <vt:lpstr>1° Passo :</vt:lpstr>
      <vt:lpstr>Apresentação do PowerPoint</vt:lpstr>
      <vt:lpstr>2° Passo :</vt:lpstr>
      <vt:lpstr>Apresentação do PowerPoint</vt:lpstr>
      <vt:lpstr>Apresentação do PowerPoint</vt:lpstr>
      <vt:lpstr>Apresentação do PowerPoint</vt:lpstr>
      <vt:lpstr>Apresentação do PowerPoint</vt:lpstr>
      <vt:lpstr>3° Passo :</vt:lpstr>
      <vt:lpstr>Apresentação do PowerPoint</vt:lpstr>
      <vt:lpstr>Apresentação do PowerPoint</vt:lpstr>
      <vt:lpstr>Calculando B1 e b1 para o 1º. Terraço</vt:lpstr>
      <vt:lpstr>Apresentação do PowerPoint</vt:lpstr>
      <vt:lpstr>Apresentação do PowerPoint</vt:lpstr>
      <vt:lpstr>4° Passo :</vt:lpstr>
      <vt:lpstr>O Raio hidráulico (R) pode ser obtido em quadros, porém, como  no exemplo o canal escoadouro não possui seção uniforme em  toda sua extensão, essa informação deve ser obtida através da  formula:</vt:lpstr>
      <vt:lpstr>O Perímetro Molhado , por sua vez é obtido pela fórmula:</vt:lpstr>
      <vt:lpstr>Apresentação do PowerPoint</vt:lpstr>
      <vt:lpstr>Os Raios Hidráulicos serão: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1° Passo :</dc:title>
  <dc:creator>Usuarios</dc:creator>
  <cp:lastModifiedBy>Sandro Holanda</cp:lastModifiedBy>
  <cp:revision>18</cp:revision>
  <dcterms:created xsi:type="dcterms:W3CDTF">2021-06-28T10:37:48Z</dcterms:created>
  <dcterms:modified xsi:type="dcterms:W3CDTF">2022-10-10T09:55:45Z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2016-05-10T00:00:00Z</vt:filetime>
  </property>
  <property fmtid="{D5CDD505-2E9C-101B-9397-08002B2CF9AE}" pid="3" name="Creator">
    <vt:lpwstr>Versão de Avaliação do Microsoft® PowerPoint® 2010</vt:lpwstr>
  </property>
  <property fmtid="{D5CDD505-2E9C-101B-9397-08002B2CF9AE}" pid="4" name="LastSaved">
    <vt:filetime>2021-06-28T00:00:00Z</vt:filetime>
  </property>
</Properties>
</file>