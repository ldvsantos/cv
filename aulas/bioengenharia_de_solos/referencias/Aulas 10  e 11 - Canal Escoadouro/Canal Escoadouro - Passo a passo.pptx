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0" r:id="rId2"/>
    <p:sldId id="266" r:id="rId3"/>
    <p:sldId id="267" r:id="rId4"/>
    <p:sldId id="268" r:id="rId5"/>
    <p:sldId id="269" r:id="rId6"/>
    <p:sldId id="256" r:id="rId7"/>
    <p:sldId id="260" r:id="rId8"/>
    <p:sldId id="257" r:id="rId9"/>
    <p:sldId id="261" r:id="rId10"/>
    <p:sldId id="263" r:id="rId11"/>
    <p:sldId id="264" r:id="rId12"/>
    <p:sldId id="258" r:id="rId13"/>
    <p:sldId id="262" r:id="rId14"/>
    <p:sldId id="259" r:id="rId15"/>
    <p:sldId id="265" r:id="rId16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D0692-35F7-48FD-A20B-DDB21E957A6D}" type="datetimeFigureOut">
              <a:rPr lang="pt-BR" smtClean="0"/>
              <a:t>10/10/2022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DC682-4E11-48D8-98C1-28754AA23BD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171081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D0692-35F7-48FD-A20B-DDB21E957A6D}" type="datetimeFigureOut">
              <a:rPr lang="pt-BR" smtClean="0"/>
              <a:t>10/10/2022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DC682-4E11-48D8-98C1-28754AA23BD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57644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D0692-35F7-48FD-A20B-DDB21E957A6D}" type="datetimeFigureOut">
              <a:rPr lang="pt-BR" smtClean="0"/>
              <a:t>10/10/2022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DC682-4E11-48D8-98C1-28754AA23BD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683906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D0692-35F7-48FD-A20B-DDB21E957A6D}" type="datetimeFigureOut">
              <a:rPr lang="pt-BR" smtClean="0"/>
              <a:t>10/10/2022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DC682-4E11-48D8-98C1-28754AA23BD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52757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D0692-35F7-48FD-A20B-DDB21E957A6D}" type="datetimeFigureOut">
              <a:rPr lang="pt-BR" smtClean="0"/>
              <a:t>10/10/2022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DC682-4E11-48D8-98C1-28754AA23BD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075880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D0692-35F7-48FD-A20B-DDB21E957A6D}" type="datetimeFigureOut">
              <a:rPr lang="pt-BR" smtClean="0"/>
              <a:t>10/10/2022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DC682-4E11-48D8-98C1-28754AA23BD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50775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D0692-35F7-48FD-A20B-DDB21E957A6D}" type="datetimeFigureOut">
              <a:rPr lang="pt-BR" smtClean="0"/>
              <a:t>10/10/2022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DC682-4E11-48D8-98C1-28754AA23BD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722506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D0692-35F7-48FD-A20B-DDB21E957A6D}" type="datetimeFigureOut">
              <a:rPr lang="pt-BR" smtClean="0"/>
              <a:t>10/10/2022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DC682-4E11-48D8-98C1-28754AA23BD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6205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D0692-35F7-48FD-A20B-DDB21E957A6D}" type="datetimeFigureOut">
              <a:rPr lang="pt-BR" smtClean="0"/>
              <a:t>10/10/2022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DC682-4E11-48D8-98C1-28754AA23BD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077064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D0692-35F7-48FD-A20B-DDB21E957A6D}" type="datetimeFigureOut">
              <a:rPr lang="pt-BR" smtClean="0"/>
              <a:t>10/10/2022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DC682-4E11-48D8-98C1-28754AA23BD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351791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D0692-35F7-48FD-A20B-DDB21E957A6D}" type="datetimeFigureOut">
              <a:rPr lang="pt-BR" smtClean="0"/>
              <a:t>10/10/2022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DC682-4E11-48D8-98C1-28754AA23BD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285968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5D0692-35F7-48FD-A20B-DDB21E957A6D}" type="datetimeFigureOut">
              <a:rPr lang="pt-BR" smtClean="0"/>
              <a:t>10/10/2022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8DC682-4E11-48D8-98C1-28754AA23BD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575292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emf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emf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>
            <a:off x="1979712" y="234888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graphicFrame>
        <p:nvGraphicFramePr>
          <p:cNvPr id="3" name="Tabela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9915459"/>
              </p:ext>
            </p:extLst>
          </p:nvPr>
        </p:nvGraphicFramePr>
        <p:xfrm>
          <a:off x="460464" y="116632"/>
          <a:ext cx="7920880" cy="858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88511"/>
                <a:gridCol w="6732369"/>
              </a:tblGrid>
              <a:tr h="858520">
                <a:tc>
                  <a:txBody>
                    <a:bodyPr/>
                    <a:lstStyle/>
                    <a:p>
                      <a:pPr marR="179705" algn="just">
                        <a:spcAft>
                          <a:spcPts val="0"/>
                        </a:spcAft>
                      </a:pPr>
                      <a:endParaRPr lang="pt-BR" sz="12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5085" marR="4508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800" b="1" dirty="0">
                          <a:effectLst/>
                        </a:rPr>
                        <a:t>UNIVERSIDADE FEDERAL DE SERGIPE – UFS</a:t>
                      </a:r>
                      <a:endParaRPr lang="pt-BR" sz="2000" b="1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800" b="1" dirty="0">
                          <a:effectLst/>
                        </a:rPr>
                        <a:t>CENTRO DE CIÊNCIAS AGRÁRIAS APLICADAS - CCAA</a:t>
                      </a:r>
                      <a:endParaRPr lang="pt-BR" sz="2000" b="1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800" b="1" dirty="0">
                          <a:effectLst/>
                        </a:rPr>
                        <a:t>DEPARTAMENTO DE ENGENHARIA AGRONÔMICA - DEA</a:t>
                      </a:r>
                      <a:endParaRPr lang="pt-BR" sz="200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5085" marR="45085" marT="0" marB="0"/>
                </a:tc>
              </a:tr>
            </a:tbl>
          </a:graphicData>
        </a:graphic>
      </p:graphicFrame>
      <p:pic>
        <p:nvPicPr>
          <p:cNvPr id="4097" name="Picture 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332656"/>
            <a:ext cx="936104" cy="7813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tângulo 3"/>
          <p:cNvSpPr/>
          <p:nvPr/>
        </p:nvSpPr>
        <p:spPr>
          <a:xfrm>
            <a:off x="960908" y="1340768"/>
            <a:ext cx="7590668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txBody>
          <a:bodyPr wrap="none">
            <a:spAutoFit/>
          </a:bodyPr>
          <a:lstStyle/>
          <a:p>
            <a:r>
              <a:rPr lang="pt-BR" sz="2400" b="1" dirty="0" smtClean="0">
                <a:solidFill>
                  <a:srgbClr val="FF0000"/>
                </a:solidFill>
              </a:rPr>
              <a:t>Disciplina: Manejo e Conservação da água e do Solo</a:t>
            </a:r>
            <a:endParaRPr lang="pt-BR" sz="2400" b="1" dirty="0">
              <a:solidFill>
                <a:srgbClr val="FF0000"/>
              </a:solidFill>
            </a:endParaRPr>
          </a:p>
        </p:txBody>
      </p:sp>
      <p:sp>
        <p:nvSpPr>
          <p:cNvPr id="5" name="CaixaDeTexto 4"/>
          <p:cNvSpPr txBox="1"/>
          <p:nvPr/>
        </p:nvSpPr>
        <p:spPr>
          <a:xfrm>
            <a:off x="618403" y="1988840"/>
            <a:ext cx="7657354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pt-BR" sz="2400" b="1" dirty="0">
                <a:solidFill>
                  <a:srgbClr val="002060"/>
                </a:solidFill>
              </a:rPr>
              <a:t>Controle </a:t>
            </a:r>
            <a:r>
              <a:rPr lang="pt-BR" sz="2400" b="1" dirty="0" smtClean="0">
                <a:solidFill>
                  <a:srgbClr val="002060"/>
                </a:solidFill>
              </a:rPr>
              <a:t> de  Erosão Hídrica –</a:t>
            </a:r>
          </a:p>
          <a:p>
            <a:pPr algn="ctr"/>
            <a:r>
              <a:rPr lang="pt-BR" sz="2400" b="1" dirty="0" smtClean="0">
                <a:solidFill>
                  <a:srgbClr val="002060"/>
                </a:solidFill>
              </a:rPr>
              <a:t>Construção de Canal Escoadouro (Cálculo) – Passo-a-passo</a:t>
            </a:r>
            <a:endParaRPr lang="pt-BR" sz="2400" b="1" dirty="0">
              <a:solidFill>
                <a:srgbClr val="002060"/>
              </a:solidFill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45" b="3257"/>
          <a:stretch/>
        </p:blipFill>
        <p:spPr bwMode="auto">
          <a:xfrm>
            <a:off x="1331640" y="3207224"/>
            <a:ext cx="6480720" cy="335734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1284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251520" y="188640"/>
            <a:ext cx="8712968" cy="61247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2800" b="1" u="sng" dirty="0"/>
              <a:t>EXERCICIO CANAIS ESCOADOUROS</a:t>
            </a:r>
            <a:endParaRPr lang="pt-BR" sz="2800" dirty="0"/>
          </a:p>
          <a:p>
            <a:pPr algn="just"/>
            <a:r>
              <a:rPr lang="pt-BR" sz="2800" dirty="0"/>
              <a:t> </a:t>
            </a:r>
          </a:p>
          <a:p>
            <a:pPr algn="just"/>
            <a:r>
              <a:rPr lang="pt-BR" sz="2800" dirty="0"/>
              <a:t>Um certo produtor do </a:t>
            </a:r>
            <a:r>
              <a:rPr lang="pt-BR" sz="2800" dirty="0" err="1"/>
              <a:t>Perimetro</a:t>
            </a:r>
            <a:r>
              <a:rPr lang="pt-BR" sz="2800" dirty="0"/>
              <a:t> Irrigado da Ribeira, localizado na </a:t>
            </a:r>
            <a:r>
              <a:rPr lang="pt-BR" sz="2800" dirty="0" err="1"/>
              <a:t>regiao</a:t>
            </a:r>
            <a:r>
              <a:rPr lang="pt-BR" sz="2800" dirty="0"/>
              <a:t> Central do Estado, decidiu implantar um sistema de terraceamento em suas terras por razão de ocorrência de erosão, porem foi, pelos acadêmicos que finalizam a disciplina Manejo e </a:t>
            </a:r>
            <a:r>
              <a:rPr lang="pt-BR" sz="2800" dirty="0" err="1"/>
              <a:t>Conservaçao</a:t>
            </a:r>
            <a:r>
              <a:rPr lang="pt-BR" sz="2800" dirty="0"/>
              <a:t> do Solo e da Agua, orientado que de acordo com as recomendações técnicas pertinentes, os terraços deveriam ser </a:t>
            </a:r>
            <a:r>
              <a:rPr lang="pt-BR" sz="2800" dirty="0" err="1"/>
              <a:t>construidos</a:t>
            </a:r>
            <a:r>
              <a:rPr lang="pt-BR" sz="2800" dirty="0"/>
              <a:t> em gradiente, com a previa construção de um canal escoadouro, e que o mesmo deveria levar em consideração as características de solo apresentada na Tabela 1, assim como as demais informações aqui apresentadas.</a:t>
            </a:r>
          </a:p>
        </p:txBody>
      </p:sp>
    </p:spTree>
    <p:extLst>
      <p:ext uri="{BB962C8B-B14F-4D97-AF65-F5344CB8AC3E}">
        <p14:creationId xmlns:p14="http://schemas.microsoft.com/office/powerpoint/2010/main" val="42388175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e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5502315"/>
              </p:ext>
            </p:extLst>
          </p:nvPr>
        </p:nvGraphicFramePr>
        <p:xfrm>
          <a:off x="323530" y="116632"/>
          <a:ext cx="8244407" cy="331236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888103"/>
                <a:gridCol w="1587812"/>
                <a:gridCol w="977115"/>
                <a:gridCol w="956758"/>
                <a:gridCol w="834619"/>
              </a:tblGrid>
              <a:tr h="418389">
                <a:tc>
                  <a:txBody>
                    <a:bodyPr/>
                    <a:lstStyle/>
                    <a:p>
                      <a:pPr marL="63500">
                        <a:spcAft>
                          <a:spcPts val="0"/>
                        </a:spcAft>
                      </a:pPr>
                      <a:r>
                        <a:rPr lang="pt-BR" sz="1200">
                          <a:effectLst/>
                        </a:rPr>
                        <a:t>ATRIBUTO</a:t>
                      </a:r>
                      <a:endParaRPr lang="pt-BR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200">
                          <a:effectLst/>
                        </a:rPr>
                        <a:t> </a:t>
                      </a:r>
                      <a:endParaRPr lang="pt-BR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0" marR="0" marT="0" marB="0" anchor="b"/>
                </a:tc>
                <a:tc gridSpan="2">
                  <a:txBody>
                    <a:bodyPr/>
                    <a:lstStyle/>
                    <a:p>
                      <a:pPr marR="241300" algn="r">
                        <a:spcAft>
                          <a:spcPts val="0"/>
                        </a:spcAft>
                      </a:pPr>
                      <a:r>
                        <a:rPr lang="pt-BR" sz="1200">
                          <a:effectLst/>
                        </a:rPr>
                        <a:t>Horizontes</a:t>
                      </a:r>
                      <a:endParaRPr lang="pt-BR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0" marR="0" marT="0" marB="0" anchor="b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200">
                          <a:effectLst/>
                        </a:rPr>
                        <a:t> </a:t>
                      </a:r>
                      <a:endParaRPr lang="pt-BR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0" marR="0" marT="0" marB="0" anchor="b"/>
                </a:tc>
              </a:tr>
              <a:tr h="39956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150">
                          <a:effectLst/>
                        </a:rPr>
                        <a:t> </a:t>
                      </a:r>
                      <a:endParaRPr lang="pt-BR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340"/>
                        </a:lnSpc>
                        <a:spcAft>
                          <a:spcPts val="0"/>
                        </a:spcAft>
                      </a:pPr>
                      <a:r>
                        <a:rPr lang="pt-BR" sz="1200">
                          <a:effectLst/>
                        </a:rPr>
                        <a:t>Ap</a:t>
                      </a:r>
                      <a:endParaRPr lang="pt-BR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340"/>
                        </a:lnSpc>
                        <a:spcAft>
                          <a:spcPts val="0"/>
                        </a:spcAft>
                      </a:pPr>
                      <a:r>
                        <a:rPr lang="pt-BR" sz="1200">
                          <a:effectLst/>
                        </a:rPr>
                        <a:t>E</a:t>
                      </a:r>
                      <a:endParaRPr lang="pt-BR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340"/>
                        </a:lnSpc>
                        <a:spcAft>
                          <a:spcPts val="0"/>
                        </a:spcAft>
                      </a:pPr>
                      <a:r>
                        <a:rPr lang="pt-BR" sz="1200">
                          <a:effectLst/>
                        </a:rPr>
                        <a:t>EB</a:t>
                      </a:r>
                      <a:endParaRPr lang="pt-BR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340"/>
                        </a:lnSpc>
                        <a:spcAft>
                          <a:spcPts val="0"/>
                        </a:spcAft>
                      </a:pPr>
                      <a:r>
                        <a:rPr lang="pt-BR" sz="1200">
                          <a:effectLst/>
                        </a:rPr>
                        <a:t>Bt</a:t>
                      </a:r>
                      <a:endParaRPr lang="pt-BR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0" marR="0" marT="0" marB="0" anchor="b"/>
                </a:tc>
              </a:tr>
              <a:tr h="448790">
                <a:tc>
                  <a:txBody>
                    <a:bodyPr/>
                    <a:lstStyle/>
                    <a:p>
                      <a:pPr marL="63500">
                        <a:spcAft>
                          <a:spcPts val="0"/>
                        </a:spcAft>
                      </a:pPr>
                      <a:r>
                        <a:rPr lang="pt-BR" sz="1200">
                          <a:effectLst/>
                        </a:rPr>
                        <a:t>Matéria Orgânica – dag/Kg</a:t>
                      </a:r>
                      <a:endParaRPr lang="pt-BR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350"/>
                        </a:lnSpc>
                        <a:spcAft>
                          <a:spcPts val="0"/>
                        </a:spcAft>
                      </a:pPr>
                      <a:r>
                        <a:rPr lang="pt-BR" sz="1200">
                          <a:effectLst/>
                        </a:rPr>
                        <a:t>3,6</a:t>
                      </a:r>
                      <a:endParaRPr lang="pt-BR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R="88900" algn="r">
                        <a:lnSpc>
                          <a:spcPts val="1350"/>
                        </a:lnSpc>
                        <a:spcAft>
                          <a:spcPts val="0"/>
                        </a:spcAft>
                      </a:pPr>
                      <a:r>
                        <a:rPr lang="pt-BR" sz="1200">
                          <a:effectLst/>
                        </a:rPr>
                        <a:t>1,3</a:t>
                      </a:r>
                      <a:endParaRPr lang="pt-BR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350"/>
                        </a:lnSpc>
                        <a:spcAft>
                          <a:spcPts val="0"/>
                        </a:spcAft>
                      </a:pPr>
                      <a:r>
                        <a:rPr lang="pt-BR" sz="1200">
                          <a:effectLst/>
                        </a:rPr>
                        <a:t>0,8</a:t>
                      </a:r>
                      <a:endParaRPr lang="pt-BR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350"/>
                        </a:lnSpc>
                        <a:spcAft>
                          <a:spcPts val="0"/>
                        </a:spcAft>
                      </a:pPr>
                      <a:r>
                        <a:rPr lang="pt-BR" sz="1200">
                          <a:effectLst/>
                        </a:rPr>
                        <a:t>0,8</a:t>
                      </a:r>
                      <a:endParaRPr lang="pt-BR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0" marR="0" marT="0" marB="0" anchor="b"/>
                </a:tc>
              </a:tr>
              <a:tr h="521177">
                <a:tc>
                  <a:txBody>
                    <a:bodyPr/>
                    <a:lstStyle/>
                    <a:p>
                      <a:pPr marL="63500">
                        <a:spcAft>
                          <a:spcPts val="0"/>
                        </a:spcAft>
                      </a:pPr>
                      <a:r>
                        <a:rPr lang="pt-BR" sz="1200">
                          <a:effectLst/>
                        </a:rPr>
                        <a:t>Areia Grossa - %</a:t>
                      </a:r>
                      <a:endParaRPr lang="pt-BR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R="76200" algn="r">
                        <a:spcAft>
                          <a:spcPts val="0"/>
                        </a:spcAft>
                      </a:pPr>
                      <a:r>
                        <a:rPr lang="pt-BR" sz="1200">
                          <a:effectLst/>
                        </a:rPr>
                        <a:t>2,0</a:t>
                      </a:r>
                      <a:endParaRPr lang="pt-BR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R="88900" algn="r">
                        <a:spcAft>
                          <a:spcPts val="0"/>
                        </a:spcAft>
                      </a:pPr>
                      <a:r>
                        <a:rPr lang="pt-BR" sz="1200">
                          <a:effectLst/>
                        </a:rPr>
                        <a:t>1,0</a:t>
                      </a:r>
                      <a:endParaRPr lang="pt-BR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R="76200" algn="r">
                        <a:spcAft>
                          <a:spcPts val="0"/>
                        </a:spcAft>
                      </a:pPr>
                      <a:r>
                        <a:rPr lang="pt-BR" sz="1200">
                          <a:effectLst/>
                        </a:rPr>
                        <a:t>1,0</a:t>
                      </a:r>
                      <a:endParaRPr lang="pt-BR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pt-BR" sz="1200">
                          <a:effectLst/>
                        </a:rPr>
                        <a:t>1,0</a:t>
                      </a:r>
                      <a:endParaRPr lang="pt-BR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0" marR="0" marT="0" marB="0" anchor="b"/>
                </a:tc>
              </a:tr>
              <a:tr h="521177">
                <a:tc>
                  <a:txBody>
                    <a:bodyPr/>
                    <a:lstStyle/>
                    <a:p>
                      <a:pPr marL="63500">
                        <a:spcAft>
                          <a:spcPts val="0"/>
                        </a:spcAft>
                      </a:pPr>
                      <a:r>
                        <a:rPr lang="pt-BR" sz="1200">
                          <a:effectLst/>
                        </a:rPr>
                        <a:t>Areia Fina - %</a:t>
                      </a:r>
                      <a:endParaRPr lang="pt-BR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R="76200" algn="r">
                        <a:spcAft>
                          <a:spcPts val="0"/>
                        </a:spcAft>
                      </a:pPr>
                      <a:r>
                        <a:rPr lang="pt-BR" sz="1200">
                          <a:effectLst/>
                        </a:rPr>
                        <a:t>12,0</a:t>
                      </a:r>
                      <a:endParaRPr lang="pt-BR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R="88900" algn="r">
                        <a:spcAft>
                          <a:spcPts val="0"/>
                        </a:spcAft>
                      </a:pPr>
                      <a:r>
                        <a:rPr lang="pt-BR" sz="1200">
                          <a:effectLst/>
                        </a:rPr>
                        <a:t>11,0</a:t>
                      </a:r>
                      <a:endParaRPr lang="pt-BR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R="76200" algn="r">
                        <a:spcAft>
                          <a:spcPts val="0"/>
                        </a:spcAft>
                      </a:pPr>
                      <a:r>
                        <a:rPr lang="pt-BR" sz="1200">
                          <a:effectLst/>
                        </a:rPr>
                        <a:t>9,0</a:t>
                      </a:r>
                      <a:endParaRPr lang="pt-BR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pt-BR" sz="1200">
                          <a:effectLst/>
                        </a:rPr>
                        <a:t>3,0</a:t>
                      </a:r>
                      <a:endParaRPr lang="pt-BR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0" marR="0" marT="0" marB="0" anchor="b"/>
                </a:tc>
              </a:tr>
              <a:tr h="521177">
                <a:tc>
                  <a:txBody>
                    <a:bodyPr/>
                    <a:lstStyle/>
                    <a:p>
                      <a:pPr marL="63500">
                        <a:spcAft>
                          <a:spcPts val="0"/>
                        </a:spcAft>
                      </a:pPr>
                      <a:r>
                        <a:rPr lang="pt-BR" sz="1200">
                          <a:effectLst/>
                        </a:rPr>
                        <a:t>Argila - %</a:t>
                      </a:r>
                      <a:endParaRPr lang="pt-BR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R="76200" algn="r">
                        <a:spcAft>
                          <a:spcPts val="0"/>
                        </a:spcAft>
                      </a:pPr>
                      <a:r>
                        <a:rPr lang="pt-BR" sz="1200">
                          <a:effectLst/>
                        </a:rPr>
                        <a:t>15,0</a:t>
                      </a:r>
                      <a:endParaRPr lang="pt-BR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R="88900" algn="r">
                        <a:spcAft>
                          <a:spcPts val="0"/>
                        </a:spcAft>
                      </a:pPr>
                      <a:r>
                        <a:rPr lang="pt-BR" sz="1200">
                          <a:effectLst/>
                        </a:rPr>
                        <a:t>17,0</a:t>
                      </a:r>
                      <a:endParaRPr lang="pt-BR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R="76200" algn="r">
                        <a:spcAft>
                          <a:spcPts val="0"/>
                        </a:spcAft>
                      </a:pPr>
                      <a:r>
                        <a:rPr lang="pt-BR" sz="1200">
                          <a:effectLst/>
                        </a:rPr>
                        <a:t>20,0</a:t>
                      </a:r>
                      <a:endParaRPr lang="pt-BR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pt-BR" sz="1200">
                          <a:effectLst/>
                        </a:rPr>
                        <a:t>45,0</a:t>
                      </a:r>
                      <a:endParaRPr lang="pt-BR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0" marR="0" marT="0" marB="0" anchor="b"/>
                </a:tc>
              </a:tr>
              <a:tr h="482087">
                <a:tc>
                  <a:txBody>
                    <a:bodyPr/>
                    <a:lstStyle/>
                    <a:p>
                      <a:pPr marL="63500">
                        <a:spcAft>
                          <a:spcPts val="0"/>
                        </a:spcAft>
                      </a:pPr>
                      <a:r>
                        <a:rPr lang="pt-BR" sz="1200">
                          <a:effectLst/>
                        </a:rPr>
                        <a:t>Silte - %</a:t>
                      </a:r>
                      <a:endParaRPr lang="pt-BR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R="76200" algn="r">
                        <a:spcAft>
                          <a:spcPts val="0"/>
                        </a:spcAft>
                      </a:pPr>
                      <a:r>
                        <a:rPr lang="pt-BR" sz="1200">
                          <a:effectLst/>
                        </a:rPr>
                        <a:t>71,0</a:t>
                      </a:r>
                      <a:endParaRPr lang="pt-BR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R="88900" algn="r">
                        <a:spcAft>
                          <a:spcPts val="0"/>
                        </a:spcAft>
                      </a:pPr>
                      <a:r>
                        <a:rPr lang="pt-BR" sz="1200">
                          <a:effectLst/>
                        </a:rPr>
                        <a:t>71,0</a:t>
                      </a:r>
                      <a:endParaRPr lang="pt-BR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R="76200" algn="r">
                        <a:spcAft>
                          <a:spcPts val="0"/>
                        </a:spcAft>
                      </a:pPr>
                      <a:r>
                        <a:rPr lang="pt-BR" sz="1200">
                          <a:effectLst/>
                        </a:rPr>
                        <a:t>70,0</a:t>
                      </a:r>
                      <a:endParaRPr lang="pt-BR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pt-BR" sz="1200" dirty="0">
                          <a:effectLst/>
                        </a:rPr>
                        <a:t>51,0</a:t>
                      </a:r>
                      <a:endParaRPr lang="pt-BR" sz="11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0" marR="0" marT="0" marB="0" anchor="b"/>
                </a:tc>
              </a:tr>
            </a:tbl>
          </a:graphicData>
        </a:graphic>
      </p:graphicFrame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179512" y="3349463"/>
            <a:ext cx="8712968" cy="30777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b="1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Arial" pitchFamily="34" charset="0"/>
                <a:ea typeface="Arial" pitchFamily="34" charset="0"/>
                <a:cs typeface="Arial" pitchFamily="34" charset="0"/>
              </a:rPr>
              <a:t>TABELA 1 </a:t>
            </a:r>
            <a:r>
              <a:rPr kumimoji="0" lang="pt-BR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Arial" pitchFamily="34" charset="0"/>
                <a:ea typeface="Arial" pitchFamily="34" charset="0"/>
                <a:cs typeface="Arial" pitchFamily="34" charset="0"/>
              </a:rPr>
              <a:t>- Resultados da análise física do Perfil de um PLANOSSOLO</a:t>
            </a:r>
            <a:r>
              <a:rPr kumimoji="0" lang="pt-BR" b="1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kumimoji="0" lang="pt-BR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Arial" pitchFamily="34" charset="0"/>
                <a:ea typeface="Arial" pitchFamily="34" charset="0"/>
                <a:cs typeface="Arial" pitchFamily="34" charset="0"/>
              </a:rPr>
              <a:t>HÁPLICO </a:t>
            </a:r>
            <a:r>
              <a:rPr kumimoji="0" lang="pt-BR" b="0" i="0" u="none" strike="noStrike" cap="none" normalizeH="0" baseline="0" dirty="0" err="1" smtClean="0">
                <a:ln>
                  <a:noFill/>
                </a:ln>
                <a:solidFill>
                  <a:srgbClr val="0070C0"/>
                </a:solidFill>
                <a:effectLst/>
                <a:latin typeface="Arial" pitchFamily="34" charset="0"/>
                <a:ea typeface="Arial" pitchFamily="34" charset="0"/>
                <a:cs typeface="Arial" pitchFamily="34" charset="0"/>
              </a:rPr>
              <a:t>Eutrófico</a:t>
            </a:r>
            <a:r>
              <a:rPr kumimoji="0" lang="pt-BR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kumimoji="0" lang="pt-BR" b="0" i="0" u="none" strike="noStrike" cap="none" normalizeH="0" baseline="0" dirty="0" err="1" smtClean="0">
                <a:ln>
                  <a:noFill/>
                </a:ln>
                <a:solidFill>
                  <a:srgbClr val="0070C0"/>
                </a:solidFill>
                <a:effectLst/>
                <a:latin typeface="Arial" pitchFamily="34" charset="0"/>
                <a:ea typeface="Arial" pitchFamily="34" charset="0"/>
                <a:cs typeface="Arial" pitchFamily="34" charset="0"/>
              </a:rPr>
              <a:t>vértico</a:t>
            </a:r>
            <a:endParaRPr kumimoji="0" lang="pt-BR" b="0" i="0" u="none" strike="noStrike" cap="none" normalizeH="0" baseline="0" dirty="0" smtClean="0">
              <a:ln>
                <a:noFill/>
              </a:ln>
              <a:solidFill>
                <a:srgbClr val="0070C0"/>
              </a:solidFill>
              <a:effectLst/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000" b="1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ATENÇÃO: Ao final dos cálculos, depois de executado o 4º. Passo, observar se a Velocidade de enxurrada calculada é menor do que a </a:t>
            </a:r>
            <a:r>
              <a:rPr kumimoji="0" lang="pt-BR" sz="2000" b="1" i="0" u="none" strike="noStrike" cap="none" normalizeH="0" baseline="0" dirty="0" err="1" smtClean="0">
                <a:ln>
                  <a:noFill/>
                </a:ln>
                <a:solidFill>
                  <a:srgbClr val="0070C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Vmax</a:t>
            </a:r>
            <a:r>
              <a:rPr kumimoji="0" lang="pt-BR" sz="2000" b="1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permitida em canais abertos (esperada), observada no 3º. Passo. Caso a Velocidade de enxurrada calculada for maior que a Velocidade </a:t>
            </a:r>
            <a:r>
              <a:rPr kumimoji="0" lang="pt-BR" sz="2000" b="1" i="0" u="none" strike="noStrike" cap="none" normalizeH="0" baseline="0" dirty="0" err="1" smtClean="0">
                <a:ln>
                  <a:noFill/>
                </a:ln>
                <a:solidFill>
                  <a:srgbClr val="0070C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max</a:t>
            </a:r>
            <a:r>
              <a:rPr kumimoji="0" lang="pt-BR" sz="2000" b="1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permitida, que sugestão pode ser dada para alteração do projeto e consequentemente não se potencializar erosão no canal escoadouro?</a:t>
            </a:r>
            <a:endParaRPr kumimoji="0" lang="pt-BR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80097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0" name="Picture 8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032" y="476672"/>
            <a:ext cx="8969936" cy="54496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708215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323528" y="476672"/>
            <a:ext cx="8280920" cy="5632311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pt-BR" sz="2000" b="1" u="sng" dirty="0" smtClean="0"/>
              <a:t>INFORMAÇOES ADICIONAIS:</a:t>
            </a:r>
            <a:endParaRPr lang="pt-BR" sz="2000" b="1" dirty="0" smtClean="0"/>
          </a:p>
          <a:p>
            <a:r>
              <a:rPr lang="pt-BR" sz="2000" b="1" dirty="0"/>
              <a:t> </a:t>
            </a:r>
          </a:p>
          <a:p>
            <a:pPr lvl="0"/>
            <a:r>
              <a:rPr lang="pt-BR" sz="2000" b="1" dirty="0"/>
              <a:t>Cultura: Milho em sucessão com feijão;</a:t>
            </a:r>
          </a:p>
          <a:p>
            <a:r>
              <a:rPr lang="pt-BR" sz="2000" b="1" dirty="0"/>
              <a:t> </a:t>
            </a:r>
          </a:p>
          <a:p>
            <a:pPr lvl="0"/>
            <a:r>
              <a:rPr lang="pt-BR" sz="2000" b="1" dirty="0"/>
              <a:t>Solo: Consultar Tabela 1;</a:t>
            </a:r>
          </a:p>
          <a:p>
            <a:r>
              <a:rPr lang="pt-BR" sz="2000" b="1" dirty="0"/>
              <a:t> </a:t>
            </a:r>
          </a:p>
          <a:p>
            <a:pPr lvl="0"/>
            <a:r>
              <a:rPr lang="pt-BR" sz="2000" b="1" dirty="0"/>
              <a:t>Declividade do terreno: 8%;</a:t>
            </a:r>
          </a:p>
          <a:p>
            <a:r>
              <a:rPr lang="pt-BR" sz="2000" b="1" dirty="0"/>
              <a:t> </a:t>
            </a:r>
          </a:p>
          <a:p>
            <a:pPr lvl="0"/>
            <a:r>
              <a:rPr lang="pt-BR" sz="2000" b="1" dirty="0"/>
              <a:t>Declividade do canal: 6%;</a:t>
            </a:r>
          </a:p>
          <a:p>
            <a:r>
              <a:rPr lang="pt-BR" sz="2000" b="1" dirty="0"/>
              <a:t> </a:t>
            </a:r>
          </a:p>
          <a:p>
            <a:pPr lvl="0"/>
            <a:r>
              <a:rPr lang="pt-BR" sz="2000" b="1" dirty="0" err="1"/>
              <a:t>Periodo</a:t>
            </a:r>
            <a:r>
              <a:rPr lang="pt-BR" sz="2000" b="1" dirty="0"/>
              <a:t> de segurança: 5 anos</a:t>
            </a:r>
          </a:p>
          <a:p>
            <a:r>
              <a:rPr lang="pt-BR" sz="2000" b="1" dirty="0"/>
              <a:t> </a:t>
            </a:r>
          </a:p>
          <a:p>
            <a:pPr lvl="0"/>
            <a:r>
              <a:rPr lang="pt-BR" sz="2000" b="1" dirty="0" err="1"/>
              <a:t>Precipitaçao</a:t>
            </a:r>
            <a:r>
              <a:rPr lang="pt-BR" sz="2000" b="1" dirty="0"/>
              <a:t> media: 950mm;</a:t>
            </a:r>
          </a:p>
          <a:p>
            <a:r>
              <a:rPr lang="pt-BR" sz="2000" b="1" dirty="0"/>
              <a:t> </a:t>
            </a:r>
          </a:p>
          <a:p>
            <a:pPr lvl="0"/>
            <a:r>
              <a:rPr lang="pt-BR" sz="2000" b="1" dirty="0" err="1"/>
              <a:t>Area</a:t>
            </a:r>
            <a:r>
              <a:rPr lang="pt-BR" sz="2000" b="1" dirty="0"/>
              <a:t>: 400 x 200 m = 8,0 ha</a:t>
            </a:r>
          </a:p>
          <a:p>
            <a:r>
              <a:rPr lang="pt-BR" sz="2000" b="1" dirty="0"/>
              <a:t> </a:t>
            </a:r>
          </a:p>
          <a:p>
            <a:pPr lvl="0"/>
            <a:r>
              <a:rPr lang="pt-BR" sz="2000" b="1" dirty="0"/>
              <a:t>O canal escoadouro </a:t>
            </a:r>
            <a:r>
              <a:rPr lang="pt-BR" sz="2000" b="1" dirty="0" err="1"/>
              <a:t>sera</a:t>
            </a:r>
            <a:r>
              <a:rPr lang="pt-BR" sz="2000" b="1" dirty="0"/>
              <a:t> revestido com gramíneas de densidade média e stand regular;</a:t>
            </a:r>
          </a:p>
        </p:txBody>
      </p:sp>
    </p:spTree>
    <p:extLst>
      <p:ext uri="{BB962C8B-B14F-4D97-AF65-F5344CB8AC3E}">
        <p14:creationId xmlns:p14="http://schemas.microsoft.com/office/powerpoint/2010/main" val="28189745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476673"/>
            <a:ext cx="4392488" cy="3312368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Caixa de Texto 2"/>
          <p:cNvSpPr txBox="1">
            <a:spLocks noChangeArrowheads="1"/>
          </p:cNvSpPr>
          <p:nvPr/>
        </p:nvSpPr>
        <p:spPr bwMode="auto">
          <a:xfrm>
            <a:off x="4499992" y="4365104"/>
            <a:ext cx="4248472" cy="1512168"/>
          </a:xfrm>
          <a:prstGeom prst="rect">
            <a:avLst/>
          </a:prstGeom>
          <a:solidFill>
            <a:schemeClr val="accent5">
              <a:lumMod val="75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pt-BR" sz="1800" b="1">
                <a:solidFill>
                  <a:srgbClr val="FFFFFF"/>
                </a:solidFill>
                <a:effectLst/>
                <a:latin typeface="Calibri"/>
                <a:ea typeface="Calibri"/>
                <a:cs typeface="Times New Roman"/>
              </a:rPr>
              <a:t> </a:t>
            </a:r>
            <a:endParaRPr lang="pt-BR" sz="1100">
              <a:effectLst/>
              <a:latin typeface="Calibri"/>
              <a:ea typeface="Calibri"/>
              <a:cs typeface="Times New Roman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pt-BR" sz="1800" b="1">
                <a:solidFill>
                  <a:srgbClr val="FFFFFF"/>
                </a:solidFill>
                <a:effectLst/>
                <a:latin typeface="Calibri"/>
                <a:ea typeface="Calibri"/>
                <a:cs typeface="Times New Roman"/>
              </a:rPr>
              <a:t>CALCULAR EH</a:t>
            </a:r>
            <a:endParaRPr lang="pt-BR" sz="1100">
              <a:effectLst/>
              <a:latin typeface="Calibri"/>
              <a:ea typeface="Calibri"/>
              <a:cs typeface="Times New Roman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pt-BR" sz="1800" b="1">
                <a:solidFill>
                  <a:srgbClr val="FFFFFF"/>
                </a:solidFill>
                <a:effectLst/>
                <a:latin typeface="Calibri"/>
                <a:ea typeface="Calibri"/>
                <a:cs typeface="Times New Roman"/>
              </a:rPr>
              <a:t>D= (EV/EH) X 100</a:t>
            </a:r>
            <a:endParaRPr lang="pt-BR" sz="1100">
              <a:effectLst/>
              <a:latin typeface="Calibri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6342328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/>
          <p:nvPr/>
        </p:nvPicPr>
        <p:blipFill>
          <a:blip r:embed="rId2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476672"/>
            <a:ext cx="8208912" cy="590465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87826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980728"/>
            <a:ext cx="6912767" cy="489654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337422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/>
          <p:nvPr/>
        </p:nvPicPr>
        <p:blipFill>
          <a:blip r:embed="rId2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260648"/>
            <a:ext cx="7560839" cy="640871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050376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/>
          <p:nvPr/>
        </p:nvPicPr>
        <p:blipFill>
          <a:blip r:embed="rId2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548680"/>
            <a:ext cx="7488832" cy="597666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081758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/>
          <p:nvPr/>
        </p:nvPicPr>
        <p:blipFill>
          <a:blip r:embed="rId2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620688"/>
            <a:ext cx="7992888" cy="612068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435110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407" y="476672"/>
            <a:ext cx="4705959" cy="37784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Imagem 2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0237" y="1402100"/>
            <a:ext cx="4702701" cy="20269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4" name="Imagem 3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12" y="4437112"/>
            <a:ext cx="6336704" cy="212107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167538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/>
          <p:nvPr/>
        </p:nvPicPr>
        <p:blipFill>
          <a:blip r:embed="rId2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548680"/>
            <a:ext cx="7416824" cy="597666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488541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88640"/>
            <a:ext cx="4248472" cy="38884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Imagem 2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476672"/>
            <a:ext cx="4347741" cy="2694597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Imagem 3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7658" y="3789040"/>
            <a:ext cx="3816424" cy="278092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582256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/>
          <p:nvPr/>
        </p:nvPicPr>
        <p:blipFill>
          <a:blip r:embed="rId2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764704"/>
            <a:ext cx="7200799" cy="554461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8125238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182</Words>
  <Application>Microsoft Office PowerPoint</Application>
  <PresentationFormat>Apresentação na tela (4:3)</PresentationFormat>
  <Paragraphs>66</Paragraphs>
  <Slides>15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16" baseType="lpstr"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Sandro</dc:creator>
  <cp:lastModifiedBy>Sandro Holanda</cp:lastModifiedBy>
  <cp:revision>4</cp:revision>
  <dcterms:created xsi:type="dcterms:W3CDTF">2021-06-28T11:32:42Z</dcterms:created>
  <dcterms:modified xsi:type="dcterms:W3CDTF">2022-10-10T09:58:59Z</dcterms:modified>
</cp:coreProperties>
</file>