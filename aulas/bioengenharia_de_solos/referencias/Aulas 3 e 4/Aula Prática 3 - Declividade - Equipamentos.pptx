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56" r:id="rId4"/>
    <p:sldId id="257" r:id="rId5"/>
    <p:sldId id="258" r:id="rId6"/>
    <p:sldId id="259" r:id="rId7"/>
    <p:sldId id="267" r:id="rId8"/>
    <p:sldId id="268" r:id="rId9"/>
    <p:sldId id="260" r:id="rId10"/>
    <p:sldId id="261" r:id="rId11"/>
    <p:sldId id="262" r:id="rId12"/>
    <p:sldId id="263" r:id="rId13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729" autoAdjust="0"/>
    <p:restoredTop sz="94660"/>
  </p:normalViewPr>
  <p:slideViewPr>
    <p:cSldViewPr>
      <p:cViewPr>
        <p:scale>
          <a:sx n="71" d="100"/>
          <a:sy n="71" d="100"/>
        </p:scale>
        <p:origin x="-1908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CE63-AA16-4430-BB5C-C131A07FAD98}" type="datetimeFigureOut">
              <a:rPr lang="pt-BR" smtClean="0"/>
              <a:t>25/06/2023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7DA6-5355-4031-A755-30F23D4451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5141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CE63-AA16-4430-BB5C-C131A07FAD98}" type="datetimeFigureOut">
              <a:rPr lang="pt-BR" smtClean="0"/>
              <a:t>25/06/2023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7DA6-5355-4031-A755-30F23D4451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8249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CE63-AA16-4430-BB5C-C131A07FAD98}" type="datetimeFigureOut">
              <a:rPr lang="pt-BR" smtClean="0"/>
              <a:t>25/06/2023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7DA6-5355-4031-A755-30F23D4451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9961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CE63-AA16-4430-BB5C-C131A07FAD98}" type="datetimeFigureOut">
              <a:rPr lang="pt-BR" smtClean="0"/>
              <a:t>25/06/2023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7DA6-5355-4031-A755-30F23D4451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97604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CE63-AA16-4430-BB5C-C131A07FAD98}" type="datetimeFigureOut">
              <a:rPr lang="pt-BR" smtClean="0"/>
              <a:t>25/06/2023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7DA6-5355-4031-A755-30F23D4451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1976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CE63-AA16-4430-BB5C-C131A07FAD98}" type="datetimeFigureOut">
              <a:rPr lang="pt-BR" smtClean="0"/>
              <a:t>25/06/2023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7DA6-5355-4031-A755-30F23D4451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79508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CE63-AA16-4430-BB5C-C131A07FAD98}" type="datetimeFigureOut">
              <a:rPr lang="pt-BR" smtClean="0"/>
              <a:t>25/06/2023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7DA6-5355-4031-A755-30F23D4451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0699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CE63-AA16-4430-BB5C-C131A07FAD98}" type="datetimeFigureOut">
              <a:rPr lang="pt-BR" smtClean="0"/>
              <a:t>25/06/2023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7DA6-5355-4031-A755-30F23D4451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3030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CE63-AA16-4430-BB5C-C131A07FAD98}" type="datetimeFigureOut">
              <a:rPr lang="pt-BR" smtClean="0"/>
              <a:t>25/06/2023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7DA6-5355-4031-A755-30F23D4451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2953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CE63-AA16-4430-BB5C-C131A07FAD98}" type="datetimeFigureOut">
              <a:rPr lang="pt-BR" smtClean="0"/>
              <a:t>25/06/2023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7DA6-5355-4031-A755-30F23D4451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1123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9CCE63-AA16-4430-BB5C-C131A07FAD98}" type="datetimeFigureOut">
              <a:rPr lang="pt-BR" smtClean="0"/>
              <a:t>25/06/2023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527DA6-5355-4031-A755-30F23D4451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1205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CCE63-AA16-4430-BB5C-C131A07FAD98}" type="datetimeFigureOut">
              <a:rPr lang="pt-BR" smtClean="0"/>
              <a:t>25/06/2023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27DA6-5355-4031-A755-30F23D4451E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7248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979712" y="23488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3854785"/>
              </p:ext>
            </p:extLst>
          </p:nvPr>
        </p:nvGraphicFramePr>
        <p:xfrm>
          <a:off x="581828" y="348964"/>
          <a:ext cx="7920880" cy="858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88511"/>
                <a:gridCol w="6732369"/>
              </a:tblGrid>
              <a:tr h="858520">
                <a:tc>
                  <a:txBody>
                    <a:bodyPr/>
                    <a:lstStyle/>
                    <a:p>
                      <a:pPr marR="179705" algn="just">
                        <a:spcAft>
                          <a:spcPts val="0"/>
                        </a:spcAft>
                      </a:pPr>
                      <a:endParaRPr lang="pt-BR" sz="1200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085" marR="45085" marT="0" marB="0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 dirty="0">
                          <a:effectLst/>
                        </a:rPr>
                        <a:t>UNIVERSIDADE FEDERAL DE SERGIPE – UFS</a:t>
                      </a:r>
                      <a:endParaRPr lang="pt-BR" sz="2000" b="1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 dirty="0">
                          <a:effectLst/>
                        </a:rPr>
                        <a:t>CENTRO DE CIÊNCIAS AGRÁRIAS APLICADAS - CCAA</a:t>
                      </a:r>
                      <a:endParaRPr lang="pt-BR" sz="2000" b="1" dirty="0">
                        <a:effectLst/>
                      </a:endParaRPr>
                    </a:p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BR" sz="1800" b="1" dirty="0">
                          <a:effectLst/>
                        </a:rPr>
                        <a:t>DEPARTAMENTO DE ENGENHARIA AGRONÔMICA - DEA</a:t>
                      </a:r>
                      <a:endParaRPr lang="pt-BR" sz="2000" b="1" dirty="0">
                        <a:effectLst/>
                        <a:latin typeface="Times New Roman"/>
                        <a:ea typeface="Times New Roman"/>
                      </a:endParaRPr>
                    </a:p>
                  </a:txBody>
                  <a:tcPr marL="45085" marR="45085" marT="0" marB="0"/>
                </a:tc>
              </a:tr>
            </a:tbl>
          </a:graphicData>
        </a:graphic>
      </p:graphicFrame>
      <p:pic>
        <p:nvPicPr>
          <p:cNvPr id="4097" name="Picture 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560" y="332656"/>
            <a:ext cx="936104" cy="78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tângulo 3"/>
          <p:cNvSpPr/>
          <p:nvPr/>
        </p:nvSpPr>
        <p:spPr>
          <a:xfrm>
            <a:off x="172688" y="1340767"/>
            <a:ext cx="8814401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/>
            </a:solidFill>
          </a:ln>
        </p:spPr>
        <p:txBody>
          <a:bodyPr wrap="none">
            <a:spAutoFit/>
          </a:bodyPr>
          <a:lstStyle/>
          <a:p>
            <a:r>
              <a:rPr lang="pt-BR" sz="3200" dirty="0" smtClean="0"/>
              <a:t>Disciplina: Manejo e Conservação da água e do Solo</a:t>
            </a:r>
            <a:endParaRPr lang="pt-BR" sz="32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734137" y="2271936"/>
            <a:ext cx="76915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2800" b="1" u="sng" dirty="0" smtClean="0"/>
              <a:t>DECLIVIDADE</a:t>
            </a:r>
            <a:r>
              <a:rPr lang="pt-BR" sz="2800" b="1" dirty="0" smtClean="0"/>
              <a:t> </a:t>
            </a:r>
            <a:r>
              <a:rPr lang="pt-BR" sz="2400" b="1" dirty="0" smtClean="0"/>
              <a:t>– Aspectos metodológicos e Equipamentos</a:t>
            </a:r>
            <a:endParaRPr lang="pt-BR" sz="2400" b="1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0233" y="3140968"/>
            <a:ext cx="7353300" cy="30480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725883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395536" y="476672"/>
            <a:ext cx="8064896" cy="193899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pt-BR" sz="2400" b="1" u="sng" dirty="0" smtClean="0"/>
              <a:t>Declividade do solo</a:t>
            </a:r>
          </a:p>
          <a:p>
            <a:pPr algn="ctr"/>
            <a:r>
              <a:rPr lang="pt-BR" sz="2400" dirty="0" smtClean="0">
                <a:effectLst/>
              </a:rPr>
              <a:t>A </a:t>
            </a:r>
            <a:r>
              <a:rPr lang="pt-BR" sz="2400" b="1" dirty="0" smtClean="0">
                <a:effectLst/>
              </a:rPr>
              <a:t>declividade</a:t>
            </a:r>
            <a:r>
              <a:rPr lang="pt-BR" sz="2400" dirty="0" smtClean="0">
                <a:effectLst/>
              </a:rPr>
              <a:t> é a inclinação da superfície do terreno em relação à horizontal, ou seja, a relação entre a diferença de altura entre dois pontos e a distância horizontal entre esses pontos. É dada em graus e em porcentagem.</a:t>
            </a:r>
            <a:endParaRPr lang="pt-BR" sz="2400" dirty="0">
              <a:effectLst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2917164"/>
            <a:ext cx="7200800" cy="375219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123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30494"/>
            <a:ext cx="8928991" cy="66268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083051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32656"/>
            <a:ext cx="8838035" cy="63367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48029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54792"/>
            <a:ext cx="8280919" cy="61870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53778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563" y="982563"/>
            <a:ext cx="7000875" cy="50387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1122017" y="260648"/>
            <a:ext cx="34499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D= (V1+V2+V3+V4)/(4 * 3m) * 100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1547664" y="6095220"/>
            <a:ext cx="679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D= ((L1-L2) + (L3-L4) + (L5-L6)... (</a:t>
            </a:r>
            <a:r>
              <a:rPr lang="pt-BR" dirty="0" err="1" smtClean="0"/>
              <a:t>Ln</a:t>
            </a:r>
            <a:r>
              <a:rPr lang="pt-BR" dirty="0" smtClean="0"/>
              <a:t> – Ln+1))/ H1+H2+ H3... + </a:t>
            </a:r>
            <a:r>
              <a:rPr lang="pt-BR" dirty="0" err="1" smtClean="0"/>
              <a:t>Hn</a:t>
            </a:r>
            <a:r>
              <a:rPr lang="pt-BR" dirty="0" smtClean="0"/>
              <a:t>)) *100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2221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4536" y="929680"/>
            <a:ext cx="3048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78832" y="960476"/>
            <a:ext cx="3048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559152" y="973923"/>
            <a:ext cx="3048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8400" y="4008476"/>
            <a:ext cx="3048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8326" y="4008476"/>
            <a:ext cx="3048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649688" y="4079329"/>
            <a:ext cx="3048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CaixaDeTexto 9"/>
          <p:cNvSpPr txBox="1"/>
          <p:nvPr/>
        </p:nvSpPr>
        <p:spPr>
          <a:xfrm>
            <a:off x="1518574" y="46945"/>
            <a:ext cx="56750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u="sng" dirty="0" smtClean="0">
                <a:solidFill>
                  <a:srgbClr val="FF0000"/>
                </a:solidFill>
              </a:rPr>
              <a:t>Passo a passo na confecção do Pé-de-Galinha (retangular)</a:t>
            </a:r>
            <a:endParaRPr lang="pt-BR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7232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57472" y="762000"/>
            <a:ext cx="3048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894856" y="765902"/>
            <a:ext cx="3048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03168" y="765902"/>
            <a:ext cx="3048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-32737" y="4026024"/>
            <a:ext cx="3048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750840" y="3992615"/>
            <a:ext cx="3048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5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5775176" y="4026024"/>
            <a:ext cx="3048000" cy="228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611560" y="46945"/>
            <a:ext cx="7044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u="sng" dirty="0" smtClean="0">
                <a:solidFill>
                  <a:srgbClr val="FF0000"/>
                </a:solidFill>
              </a:rPr>
              <a:t>Passo a passo na confecção do </a:t>
            </a:r>
            <a:r>
              <a:rPr lang="pt-BR" b="1" u="sng" dirty="0" err="1" smtClean="0">
                <a:solidFill>
                  <a:srgbClr val="FF0000"/>
                </a:solidFill>
              </a:rPr>
              <a:t>Nivel</a:t>
            </a:r>
            <a:r>
              <a:rPr lang="pt-BR" b="1" u="sng" dirty="0" smtClean="0">
                <a:solidFill>
                  <a:srgbClr val="FF0000"/>
                </a:solidFill>
              </a:rPr>
              <a:t> de Borracha ou </a:t>
            </a:r>
            <a:r>
              <a:rPr lang="pt-BR" b="1" u="sng" dirty="0" err="1" smtClean="0">
                <a:solidFill>
                  <a:srgbClr val="FF0000"/>
                </a:solidFill>
              </a:rPr>
              <a:t>Nivel</a:t>
            </a:r>
            <a:r>
              <a:rPr lang="pt-BR" b="1" u="sng" dirty="0" smtClean="0">
                <a:solidFill>
                  <a:srgbClr val="FF0000"/>
                </a:solidFill>
              </a:rPr>
              <a:t> de Mangueira</a:t>
            </a:r>
            <a:endParaRPr lang="pt-BR" b="1" u="sng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27368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059" y="476672"/>
            <a:ext cx="8360614" cy="59766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8160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060" y="620687"/>
            <a:ext cx="8174395" cy="564043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49575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124" y="476672"/>
            <a:ext cx="8044676" cy="5976664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  <a:effectLst/>
        </p:spPr>
      </p:pic>
    </p:spTree>
    <p:extLst>
      <p:ext uri="{BB962C8B-B14F-4D97-AF65-F5344CB8AC3E}">
        <p14:creationId xmlns:p14="http://schemas.microsoft.com/office/powerpoint/2010/main" val="410566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107504" y="708049"/>
            <a:ext cx="8642109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 smtClean="0"/>
              <a:t>Cálculo de Declividade: </a:t>
            </a:r>
          </a:p>
          <a:p>
            <a:r>
              <a:rPr lang="pt-BR" sz="2400" b="1" u="sng" dirty="0" err="1" smtClean="0"/>
              <a:t>Nivel</a:t>
            </a:r>
            <a:r>
              <a:rPr lang="pt-BR" sz="2400" b="1" u="sng" dirty="0" smtClean="0"/>
              <a:t> de Borracha</a:t>
            </a:r>
          </a:p>
          <a:p>
            <a:r>
              <a:rPr lang="pt-BR" sz="2400" b="1" dirty="0" smtClean="0"/>
              <a:t>D= EV/EH * 100    L1=32,0cm; L2=23,0 cm; L3=38,0 cm; L4=21,0 cm;</a:t>
            </a:r>
          </a:p>
          <a:p>
            <a:r>
              <a:rPr lang="pt-BR" sz="2400" b="1" dirty="0" smtClean="0"/>
              <a:t>L5=28,0 cm; L6=19,8cm; L7=25,9cm e L8=22,3cm</a:t>
            </a:r>
          </a:p>
          <a:p>
            <a:r>
              <a:rPr lang="pt-BR" sz="2400" b="1" dirty="0" smtClean="0"/>
              <a:t>(L1-L2) + (L3-L4)  +( L5-L6) + (L7-L8)</a:t>
            </a:r>
          </a:p>
          <a:p>
            <a:r>
              <a:rPr lang="pt-BR" sz="2400" b="1" dirty="0" smtClean="0"/>
              <a:t>9 + 17 + 8,2 + 3,6  = 37,8 = EV</a:t>
            </a:r>
          </a:p>
          <a:p>
            <a:r>
              <a:rPr lang="pt-BR" sz="2400" b="1" dirty="0" smtClean="0"/>
              <a:t>H1= 12m; H2=8m; H3= 11m; H4=15m  = </a:t>
            </a:r>
          </a:p>
          <a:p>
            <a:r>
              <a:rPr lang="pt-BR" sz="2400" b="1" dirty="0" smtClean="0">
                <a:solidFill>
                  <a:srgbClr val="FF0000"/>
                </a:solidFill>
              </a:rPr>
              <a:t>D=(EV/EH)*100</a:t>
            </a:r>
          </a:p>
          <a:p>
            <a:r>
              <a:rPr lang="pt-BR" sz="2400" b="1" dirty="0" smtClean="0"/>
              <a:t>D= (EV)/(EH) * 100 = </a:t>
            </a:r>
            <a:r>
              <a:rPr lang="pt-BR" sz="2400" b="1" dirty="0" smtClean="0">
                <a:solidFill>
                  <a:srgbClr val="FF0000"/>
                </a:solidFill>
              </a:rPr>
              <a:t>(37,8cm</a:t>
            </a:r>
            <a:r>
              <a:rPr lang="pt-BR" sz="2400" b="1" dirty="0" smtClean="0"/>
              <a:t>/</a:t>
            </a:r>
            <a:r>
              <a:rPr lang="pt-BR" sz="2400" b="1" dirty="0" smtClean="0">
                <a:solidFill>
                  <a:srgbClr val="FF0000"/>
                </a:solidFill>
              </a:rPr>
              <a:t>46m)</a:t>
            </a:r>
            <a:r>
              <a:rPr lang="pt-BR" sz="2400" b="1" dirty="0" smtClean="0"/>
              <a:t>  = 0,82%</a:t>
            </a:r>
            <a:endParaRPr lang="pt-BR" sz="2400" b="1" dirty="0"/>
          </a:p>
          <a:p>
            <a:r>
              <a:rPr lang="pt-BR" sz="2400" b="1" u="sng" dirty="0" smtClean="0"/>
              <a:t>Pé-de-galinha   </a:t>
            </a:r>
            <a:r>
              <a:rPr lang="pt-BR" sz="2400" b="1" dirty="0" smtClean="0"/>
              <a:t> EV=(EV1 + EV2 + EV3 + ....+ EV6/ 6 x 3) = </a:t>
            </a:r>
            <a:endParaRPr lang="pt-BR" sz="2400" b="1" u="sng" dirty="0" smtClean="0"/>
          </a:p>
          <a:p>
            <a:r>
              <a:rPr lang="pt-BR" sz="2400" b="1" dirty="0" smtClean="0"/>
              <a:t>D= EV/EH * 100</a:t>
            </a:r>
          </a:p>
          <a:p>
            <a:r>
              <a:rPr lang="pt-BR" sz="2400" b="1" dirty="0" smtClean="0"/>
              <a:t>EV1= 4cm; EV2=8cm; EV3; 5cm; EV4=10cm; EV5=8cm; EV6=7cm</a:t>
            </a:r>
          </a:p>
          <a:p>
            <a:r>
              <a:rPr lang="pt-BR" sz="2400" b="1" dirty="0">
                <a:solidFill>
                  <a:srgbClr val="FF0000"/>
                </a:solidFill>
              </a:rPr>
              <a:t>D=(EV/EH)*100</a:t>
            </a:r>
          </a:p>
          <a:p>
            <a:pPr>
              <a:tabLst>
                <a:tab pos="5835650" algn="l"/>
              </a:tabLst>
            </a:pPr>
            <a:r>
              <a:rPr lang="pt-BR" sz="2400" b="1" dirty="0" smtClean="0"/>
              <a:t>D= (42cm/18m) = 2,33%</a:t>
            </a:r>
            <a:endParaRPr lang="pt-BR" sz="2400" b="1" dirty="0"/>
          </a:p>
        </p:txBody>
      </p:sp>
      <p:sp>
        <p:nvSpPr>
          <p:cNvPr id="3" name="CaixaDeTexto 2"/>
          <p:cNvSpPr txBox="1"/>
          <p:nvPr/>
        </p:nvSpPr>
        <p:spPr>
          <a:xfrm>
            <a:off x="899592" y="337937"/>
            <a:ext cx="6793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smtClean="0"/>
              <a:t>D= ((L1-L2) + (L3-L4) + (L5-L6)... (</a:t>
            </a:r>
            <a:r>
              <a:rPr lang="pt-BR" dirty="0" err="1" smtClean="0"/>
              <a:t>Ln</a:t>
            </a:r>
            <a:r>
              <a:rPr lang="pt-BR" dirty="0" smtClean="0"/>
              <a:t> – Ln+1))/ H1+H2+ H3... + </a:t>
            </a:r>
            <a:r>
              <a:rPr lang="pt-BR" dirty="0" err="1" smtClean="0"/>
              <a:t>Hn</a:t>
            </a:r>
            <a:r>
              <a:rPr lang="pt-BR" dirty="0" smtClean="0"/>
              <a:t>)) *100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26120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5084</TotalTime>
  <Words>308</Words>
  <Application>Microsoft Office PowerPoint</Application>
  <PresentationFormat>Apresentação na tela (4:3)</PresentationFormat>
  <Paragraphs>26</Paragraphs>
  <Slides>12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3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Sandro</dc:creator>
  <cp:lastModifiedBy>Sandro Holanda</cp:lastModifiedBy>
  <cp:revision>25</cp:revision>
  <dcterms:created xsi:type="dcterms:W3CDTF">2020-11-29T19:54:21Z</dcterms:created>
  <dcterms:modified xsi:type="dcterms:W3CDTF">2023-06-25T20:32:10Z</dcterms:modified>
</cp:coreProperties>
</file>